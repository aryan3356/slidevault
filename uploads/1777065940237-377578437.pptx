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A1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73152" cy="6858000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02352" y="0"/>
            <a:ext cx="7086600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548640"/>
            <a:ext cx="1005840" cy="1005840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4864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Georgia"/>
              </a:rPr>
              <a:t>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658368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SlideVault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828800"/>
            <a:ext cx="50800" cy="50800"/>
          </a:xfrm>
          <a:prstGeom prst="ellipse">
            <a:avLst/>
          </a:prstGeom>
          <a:solidFill>
            <a:srgbClr val="3A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828800"/>
            <a:ext cx="50800" cy="50800"/>
          </a:xfrm>
          <a:prstGeom prst="ellipse">
            <a:avLst/>
          </a:prstGeom>
          <a:solidFill>
            <a:srgbClr val="3A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194560" y="1828800"/>
            <a:ext cx="50800" cy="50800"/>
          </a:xfrm>
          <a:prstGeom prst="ellipse">
            <a:avLst/>
          </a:prstGeom>
          <a:solidFill>
            <a:srgbClr val="3A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017520" y="1828800"/>
            <a:ext cx="50800" cy="50800"/>
          </a:xfrm>
          <a:prstGeom prst="ellipse">
            <a:avLst/>
          </a:prstGeom>
          <a:solidFill>
            <a:srgbClr val="3A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48640" y="2423160"/>
            <a:ext cx="50800" cy="50800"/>
          </a:xfrm>
          <a:prstGeom prst="ellipse">
            <a:avLst/>
          </a:prstGeom>
          <a:solidFill>
            <a:srgbClr val="3A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71600" y="2423160"/>
            <a:ext cx="50800" cy="50800"/>
          </a:xfrm>
          <a:prstGeom prst="ellipse">
            <a:avLst/>
          </a:prstGeom>
          <a:solidFill>
            <a:srgbClr val="3A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94560" y="2423160"/>
            <a:ext cx="50800" cy="50800"/>
          </a:xfrm>
          <a:prstGeom prst="ellipse">
            <a:avLst/>
          </a:prstGeom>
          <a:solidFill>
            <a:srgbClr val="3A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17520" y="2423160"/>
            <a:ext cx="50800" cy="50800"/>
          </a:xfrm>
          <a:prstGeom prst="ellipse">
            <a:avLst/>
          </a:prstGeom>
          <a:solidFill>
            <a:srgbClr val="3A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640" y="3017520"/>
            <a:ext cx="50800" cy="50800"/>
          </a:xfrm>
          <a:prstGeom prst="ellipse">
            <a:avLst/>
          </a:prstGeom>
          <a:solidFill>
            <a:srgbClr val="3A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50800" cy="50800"/>
          </a:xfrm>
          <a:prstGeom prst="ellipse">
            <a:avLst/>
          </a:prstGeom>
          <a:solidFill>
            <a:srgbClr val="3A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194560" y="3017520"/>
            <a:ext cx="50800" cy="50800"/>
          </a:xfrm>
          <a:prstGeom prst="ellipse">
            <a:avLst/>
          </a:prstGeom>
          <a:solidFill>
            <a:srgbClr val="3A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17520" y="3017520"/>
            <a:ext cx="50800" cy="50800"/>
          </a:xfrm>
          <a:prstGeom prst="ellipse">
            <a:avLst/>
          </a:prstGeom>
          <a:solidFill>
            <a:srgbClr val="3A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48640" y="3611880"/>
            <a:ext cx="50800" cy="50800"/>
          </a:xfrm>
          <a:prstGeom prst="ellipse">
            <a:avLst/>
          </a:prstGeom>
          <a:solidFill>
            <a:srgbClr val="3A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71600" y="3611880"/>
            <a:ext cx="50800" cy="50800"/>
          </a:xfrm>
          <a:prstGeom prst="ellipse">
            <a:avLst/>
          </a:prstGeom>
          <a:solidFill>
            <a:srgbClr val="3A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94560" y="3611880"/>
            <a:ext cx="50800" cy="50800"/>
          </a:xfrm>
          <a:prstGeom prst="ellipse">
            <a:avLst/>
          </a:prstGeom>
          <a:solidFill>
            <a:srgbClr val="3A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017520" y="3611880"/>
            <a:ext cx="50800" cy="50800"/>
          </a:xfrm>
          <a:prstGeom prst="ellipse">
            <a:avLst/>
          </a:prstGeom>
          <a:solidFill>
            <a:srgbClr val="3A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48640" y="4206240"/>
            <a:ext cx="50800" cy="50800"/>
          </a:xfrm>
          <a:prstGeom prst="ellipse">
            <a:avLst/>
          </a:prstGeom>
          <a:solidFill>
            <a:srgbClr val="3A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71600" y="4206240"/>
            <a:ext cx="50800" cy="50800"/>
          </a:xfrm>
          <a:prstGeom prst="ellipse">
            <a:avLst/>
          </a:prstGeom>
          <a:solidFill>
            <a:srgbClr val="3A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194560" y="4206240"/>
            <a:ext cx="50800" cy="50800"/>
          </a:xfrm>
          <a:prstGeom prst="ellipse">
            <a:avLst/>
          </a:prstGeom>
          <a:solidFill>
            <a:srgbClr val="3A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17520" y="4206240"/>
            <a:ext cx="50800" cy="50800"/>
          </a:xfrm>
          <a:prstGeom prst="ellipse">
            <a:avLst/>
          </a:prstGeom>
          <a:solidFill>
            <a:srgbClr val="3A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48640" y="4800600"/>
            <a:ext cx="50800" cy="50800"/>
          </a:xfrm>
          <a:prstGeom prst="ellipse">
            <a:avLst/>
          </a:prstGeom>
          <a:solidFill>
            <a:srgbClr val="3A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71600" y="4800600"/>
            <a:ext cx="50800" cy="50800"/>
          </a:xfrm>
          <a:prstGeom prst="ellipse">
            <a:avLst/>
          </a:prstGeom>
          <a:solidFill>
            <a:srgbClr val="3A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194560" y="4800600"/>
            <a:ext cx="50800" cy="50800"/>
          </a:xfrm>
          <a:prstGeom prst="ellipse">
            <a:avLst/>
          </a:prstGeom>
          <a:solidFill>
            <a:srgbClr val="3A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017520" y="4800600"/>
            <a:ext cx="50800" cy="50800"/>
          </a:xfrm>
          <a:prstGeom prst="ellipse">
            <a:avLst/>
          </a:prstGeom>
          <a:solidFill>
            <a:srgbClr val="3A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48640" y="5394960"/>
            <a:ext cx="50800" cy="50800"/>
          </a:xfrm>
          <a:prstGeom prst="ellipse">
            <a:avLst/>
          </a:prstGeom>
          <a:solidFill>
            <a:srgbClr val="3A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71600" y="5394960"/>
            <a:ext cx="50800" cy="50800"/>
          </a:xfrm>
          <a:prstGeom prst="ellipse">
            <a:avLst/>
          </a:prstGeom>
          <a:solidFill>
            <a:srgbClr val="3A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194560" y="5394960"/>
            <a:ext cx="50800" cy="50800"/>
          </a:xfrm>
          <a:prstGeom prst="ellipse">
            <a:avLst/>
          </a:prstGeom>
          <a:solidFill>
            <a:srgbClr val="3A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017520" y="5394960"/>
            <a:ext cx="50800" cy="50800"/>
          </a:xfrm>
          <a:prstGeom prst="ellipse">
            <a:avLst/>
          </a:prstGeom>
          <a:solidFill>
            <a:srgbClr val="3A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48640" y="5989320"/>
            <a:ext cx="50800" cy="50800"/>
          </a:xfrm>
          <a:prstGeom prst="ellipse">
            <a:avLst/>
          </a:prstGeom>
          <a:solidFill>
            <a:srgbClr val="3A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71600" y="5989320"/>
            <a:ext cx="50800" cy="50800"/>
          </a:xfrm>
          <a:prstGeom prst="ellipse">
            <a:avLst/>
          </a:prstGeom>
          <a:solidFill>
            <a:srgbClr val="3A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194560" y="5989320"/>
            <a:ext cx="50800" cy="50800"/>
          </a:xfrm>
          <a:prstGeom prst="ellipse">
            <a:avLst/>
          </a:prstGeom>
          <a:solidFill>
            <a:srgbClr val="3A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017520" y="5989320"/>
            <a:ext cx="50800" cy="50800"/>
          </a:xfrm>
          <a:prstGeom prst="ellipse">
            <a:avLst/>
          </a:prstGeom>
          <a:solidFill>
            <a:srgbClr val="3A3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3949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258"/>
                </a:solidFill>
                <a:latin typeface="Calibri"/>
              </a:rPr>
              <a:t>ACADEMIC &amp; PROFESSIONAL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7607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A6258"/>
                </a:solidFill>
                <a:latin typeface="Calibri"/>
              </a:rPr>
              <a:t>PRESENTATION PLATFORM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10058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4B2F"/>
                </a:solidFill>
                <a:latin typeface="Calibri"/>
              </a:rPr>
              <a:t>B.Tech CSE — 2nd Year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0" y="141732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9188"/>
                </a:solidFill>
                <a:latin typeface="Calibri"/>
              </a:rPr>
              <a:t>Minor Project Presentation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0" y="2011680"/>
            <a:ext cx="6217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1A1714"/>
                </a:solidFill>
                <a:latin typeface="Georgia"/>
              </a:rPr>
              <a:t>SlideVault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301752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84B2F"/>
                </a:solidFill>
                <a:latin typeface="Georgia"/>
              </a:rPr>
              <a:t>Upload. Discover. Present.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3749039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A9188"/>
                </a:solidFill>
                <a:latin typeface="Calibri"/>
              </a:rPr>
              <a:t>A full-stack web platform for uploading, previewing,
and sharing academic presentation slides.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0" y="4937760"/>
            <a:ext cx="6035040" cy="1554480"/>
          </a:xfrm>
          <a:prstGeom prst="rect">
            <a:avLst/>
          </a:prstGeom>
          <a:solidFill>
            <a:srgbClr val="F2EFE9"/>
          </a:solidFill>
          <a:ln w="9525">
            <a:solidFill>
              <a:srgbClr val="E2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0" y="507492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714"/>
                </a:solidFill>
                <a:latin typeface="Calibri"/>
              </a:rPr>
              <a:t>Student:   Aryan  |  Roll No: XXXX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714"/>
                </a:solidFill>
                <a:latin typeface="Calibri"/>
              </a:rPr>
              <a:t>Branch:    B.Tech CSE  |  Year: 2nd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714"/>
                </a:solidFill>
                <a:latin typeface="Calibri"/>
              </a:rPr>
              <a:t>Guide:     [Faculty Name]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714"/>
                </a:solidFill>
                <a:latin typeface="Calibri"/>
              </a:rPr>
              <a:t>Institute: [Your College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09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9188"/>
                </a:solidFill>
                <a:latin typeface="Calibri"/>
              </a:rPr>
              <a:t>SlideVault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188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714"/>
                </a:solidFill>
                <a:latin typeface="Georgia"/>
              </a:rPr>
              <a:t>The Problem We Solved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097280" cy="5486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5778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577840" cy="5486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7276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714"/>
                </a:solidFill>
                <a:latin typeface="Calibri"/>
              </a:rPr>
              <a:t>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62763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714"/>
                </a:solidFill>
                <a:latin typeface="Calibri"/>
              </a:rPr>
              <a:t>No Central 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4884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A9188"/>
                </a:solidFill>
                <a:latin typeface="Calibri"/>
              </a:rPr>
              <a:t>Students share slides via WhatsApp, Google Drive, or email — scattered, hard to find, no organization.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5778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5577840" cy="54864"/>
          </a:xfrm>
          <a:prstGeom prst="rect">
            <a:avLst/>
          </a:prstGeom>
          <a:solidFill>
            <a:srgbClr val="1A1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72768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714"/>
                </a:solidFill>
                <a:latin typeface="Calibri"/>
              </a:rPr>
              <a:t>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62763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714"/>
                </a:solidFill>
                <a:latin typeface="Calibri"/>
              </a:rPr>
              <a:t>No Preview Before Download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14884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A9188"/>
                </a:solidFill>
                <a:latin typeface="Calibri"/>
              </a:rPr>
              <a:t>Users blindly download files without knowing the content quality or relevance to their needs.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55778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5577840" cy="5486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50207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714"/>
                </a:solidFill>
                <a:latin typeface="Calibri"/>
              </a:rP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00507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714"/>
                </a:solidFill>
                <a:latin typeface="Calibri"/>
              </a:rPr>
              <a:t>No Popularity 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526279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A9188"/>
                </a:solidFill>
                <a:latin typeface="Calibri"/>
              </a:rPr>
              <a:t>No way to know which presentations are most useful, most viewed, or highest rated by peers.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749039"/>
            <a:ext cx="5577840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3749039"/>
            <a:ext cx="5577840" cy="54864"/>
          </a:xfrm>
          <a:prstGeom prst="rect">
            <a:avLst/>
          </a:prstGeom>
          <a:solidFill>
            <a:srgbClr val="1A1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950207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714"/>
                </a:solidFill>
                <a:latin typeface="Calibri"/>
              </a:rPr>
              <a:t>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005072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714"/>
                </a:solidFill>
                <a:latin typeface="Calibri"/>
              </a:rPr>
              <a:t>No Subject Categorization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526279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9A9188"/>
                </a:solidFill>
                <a:latin typeface="Calibri"/>
              </a:rPr>
              <a:t>Slides are dumped without organization — no filtering by subject, topic, or difficulty level.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09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9188"/>
                </a:solidFill>
                <a:latin typeface="Calibri"/>
              </a:rPr>
              <a:t>SlideVault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188"/>
                </a:solidFill>
                <a:latin typeface="Calibri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What is SlideVault?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097280" cy="5486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A9188"/>
                </a:solidFill>
                <a:latin typeface="Calibri"/>
              </a:rPr>
              <a:t>SlideVault is a full-stack web application where students and educators can upload, browse,
preview, and download academic presentation slides — organized by subject, tracked by popularity.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23160"/>
            <a:ext cx="3657600" cy="1737360"/>
          </a:xfrm>
          <a:prstGeom prst="rect">
            <a:avLst/>
          </a:prstGeom>
          <a:solidFill>
            <a:srgbClr val="25221F"/>
          </a:solidFill>
          <a:ln w="9525">
            <a:solidFill>
              <a:srgbClr val="3A3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423160"/>
            <a:ext cx="3657600" cy="5486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243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↑ Upload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81528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9188"/>
                </a:solidFill>
                <a:latin typeface="Calibri"/>
              </a:rPr>
              <a:t>Drag &amp; drop .pptx, .pdf, .ppt files with metadata, tags, and category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2" y="2423160"/>
            <a:ext cx="3657600" cy="1737360"/>
          </a:xfrm>
          <a:prstGeom prst="rect">
            <a:avLst/>
          </a:prstGeom>
          <a:solidFill>
            <a:srgbClr val="25221F"/>
          </a:solidFill>
          <a:ln w="9525">
            <a:solidFill>
              <a:srgbClr val="3A3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2423160"/>
            <a:ext cx="3657600" cy="5486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26243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▣ Preview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081528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9188"/>
                </a:solidFill>
                <a:latin typeface="Calibri"/>
              </a:rPr>
              <a:t>Browse slides online before downloading — no blind downloads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84464" y="2423160"/>
            <a:ext cx="3657600" cy="1737360"/>
          </a:xfrm>
          <a:prstGeom prst="rect">
            <a:avLst/>
          </a:prstGeom>
          <a:solidFill>
            <a:srgbClr val="25221F"/>
          </a:solidFill>
          <a:ln w="9525">
            <a:solidFill>
              <a:srgbClr val="3A3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84464" y="2423160"/>
            <a:ext cx="3657600" cy="5486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7344" y="26243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🗂 Categorize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3081528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9188"/>
                </a:solidFill>
                <a:latin typeface="Calibri"/>
              </a:rPr>
              <a:t>8 subject areas: CS, Math, Physics, Business, Biology, Engineering...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89120"/>
            <a:ext cx="3657600" cy="1737360"/>
          </a:xfrm>
          <a:prstGeom prst="rect">
            <a:avLst/>
          </a:prstGeom>
          <a:solidFill>
            <a:srgbClr val="25221F"/>
          </a:solidFill>
          <a:ln w="9525">
            <a:solidFill>
              <a:srgbClr val="3A3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389120"/>
            <a:ext cx="3657600" cy="5486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9028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📊 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047488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9188"/>
                </a:solidFill>
                <a:latin typeface="Calibri"/>
              </a:rPr>
              <a:t>Downloads, views, likes tracked in real MongoDB database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70832" y="4389120"/>
            <a:ext cx="3657600" cy="1737360"/>
          </a:xfrm>
          <a:prstGeom prst="rect">
            <a:avLst/>
          </a:prstGeom>
          <a:solidFill>
            <a:srgbClr val="25221F"/>
          </a:solidFill>
          <a:ln w="9525">
            <a:solidFill>
              <a:srgbClr val="3A3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70832" y="4389120"/>
            <a:ext cx="3657600" cy="5486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3712" y="459028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🔍 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5047488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9188"/>
                </a:solidFill>
                <a:latin typeface="Calibri"/>
              </a:rPr>
              <a:t>Live search by title, author, tag, or description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84464" y="4389120"/>
            <a:ext cx="3657600" cy="1737360"/>
          </a:xfrm>
          <a:prstGeom prst="rect">
            <a:avLst/>
          </a:prstGeom>
          <a:solidFill>
            <a:srgbClr val="25221F"/>
          </a:solidFill>
          <a:ln w="9525">
            <a:solidFill>
              <a:srgbClr val="3A3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84464" y="4389120"/>
            <a:ext cx="3657600" cy="5486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67344" y="459028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🔐 Secure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67344" y="5047488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9188"/>
                </a:solidFill>
                <a:latin typeface="Calibri"/>
              </a:rPr>
              <a:t>Helmet, rate limiting, XSS clean, input validation, delete tokens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09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9188"/>
                </a:solidFill>
                <a:latin typeface="Calibri"/>
              </a:rPr>
              <a:t>SlideVault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188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714"/>
                </a:solidFill>
                <a:latin typeface="Georgia"/>
              </a:rPr>
              <a:t>Technologies 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097280" cy="5486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2651760" cy="384048"/>
          </a:xfrm>
          <a:prstGeom prst="rect">
            <a:avLst/>
          </a:prstGeom>
          <a:solidFill>
            <a:srgbClr val="2F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4416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FRONTEND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01368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801368"/>
            <a:ext cx="45720" cy="1463040"/>
          </a:xfrm>
          <a:prstGeom prst="rect">
            <a:avLst/>
          </a:prstGeom>
          <a:solidFill>
            <a:srgbClr val="2F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96596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714"/>
                </a:solidFill>
                <a:latin typeface="Calibri"/>
              </a:rPr>
              <a:t>HTML5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350008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A9188"/>
                </a:solidFill>
                <a:latin typeface="Calibri"/>
              </a:rPr>
              <a:t>Semantic structure, 3-page SPA (Browse, Categories, Upload)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374136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374136"/>
            <a:ext cx="45720" cy="1463040"/>
          </a:xfrm>
          <a:prstGeom prst="rect">
            <a:avLst/>
          </a:prstGeom>
          <a:solidFill>
            <a:srgbClr val="2F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53872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714"/>
                </a:solidFill>
                <a:latin typeface="Calibri"/>
              </a:rPr>
              <a:t>CSS3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3922776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A9188"/>
                </a:solidFill>
                <a:latin typeface="Calibri"/>
              </a:rPr>
              <a:t>CSS Variables, Grid layout, Flexbox, Animations, Responsive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946904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946904"/>
            <a:ext cx="45720" cy="1463040"/>
          </a:xfrm>
          <a:prstGeom prst="rect">
            <a:avLst/>
          </a:prstGeom>
          <a:solidFill>
            <a:srgbClr val="2F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511149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714"/>
                </a:solidFill>
                <a:latin typeface="Calibri"/>
              </a:rPr>
              <a:t>JavaScript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5495544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A9188"/>
                </a:solidFill>
                <a:latin typeface="Calibri"/>
              </a:rPr>
              <a:t>Vanilla JS — fetch API, DOM manipulation, localStorage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18688" y="1325880"/>
            <a:ext cx="2651760" cy="384048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134416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BACKEND LAYER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18688" y="1801368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18688" y="1801368"/>
            <a:ext cx="45720" cy="1463040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196596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714"/>
                </a:solidFill>
                <a:latin typeface="Calibri"/>
              </a:rPr>
              <a:t>Node.js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2350008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A9188"/>
                </a:solidFill>
                <a:latin typeface="Calibri"/>
              </a:rPr>
              <a:t>JavaScript runtime — server-side execution environment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18688" y="3374136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18688" y="3374136"/>
            <a:ext cx="45720" cy="1463040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80" y="353872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714"/>
                </a:solidFill>
                <a:latin typeface="Calibri"/>
              </a:rPr>
              <a:t>Express.js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3922776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A9188"/>
                </a:solidFill>
                <a:latin typeface="Calibri"/>
              </a:rPr>
              <a:t>REST API framework — 8 API routes, middleware pipeline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18688" y="4946904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18688" y="4946904"/>
            <a:ext cx="45720" cy="1463040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83280" y="511149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714"/>
                </a:solidFill>
                <a:latin typeface="Calibri"/>
              </a:rPr>
              <a:t>Multer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0" y="5495544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A9188"/>
                </a:solidFill>
                <a:latin typeface="Calibri"/>
              </a:rPr>
              <a:t>File upload handling — disk storage, type filter, size limit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71616" y="1325880"/>
            <a:ext cx="2651760" cy="384048"/>
          </a:xfrm>
          <a:prstGeom prst="rect">
            <a:avLst/>
          </a:prstGeom>
          <a:solidFill>
            <a:srgbClr val="2D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63056" y="134416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DATABASE LAYER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71616" y="1801368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71616" y="1801368"/>
            <a:ext cx="45720" cy="1463040"/>
          </a:xfrm>
          <a:prstGeom prst="rect">
            <a:avLst/>
          </a:prstGeom>
          <a:solidFill>
            <a:srgbClr val="2D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36208" y="196596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714"/>
                </a:solidFill>
                <a:latin typeface="Calibri"/>
              </a:rPr>
              <a:t>MongoDB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36208" y="2350008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A9188"/>
                </a:solidFill>
                <a:latin typeface="Calibri"/>
              </a:rPr>
              <a:t>NoSQL document database — stores all presentation metadata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71616" y="3374136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71616" y="3374136"/>
            <a:ext cx="45720" cy="1463040"/>
          </a:xfrm>
          <a:prstGeom prst="rect">
            <a:avLst/>
          </a:prstGeom>
          <a:solidFill>
            <a:srgbClr val="2D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36208" y="353872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714"/>
                </a:solidFill>
                <a:latin typeface="Calibri"/>
              </a:rPr>
              <a:t>Mongoose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36208" y="3922776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A9188"/>
                </a:solidFill>
                <a:latin typeface="Calibri"/>
              </a:rPr>
              <a:t>ODM for MongoDB — Schema, validation, virtual fields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71616" y="4946904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71616" y="4946904"/>
            <a:ext cx="45720" cy="1463040"/>
          </a:xfrm>
          <a:prstGeom prst="rect">
            <a:avLst/>
          </a:prstGeom>
          <a:solidFill>
            <a:srgbClr val="2D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36208" y="511149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714"/>
                </a:solidFill>
                <a:latin typeface="Calibri"/>
              </a:rPr>
              <a:t>Atlas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36208" y="5495544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A9188"/>
                </a:solidFill>
                <a:latin typeface="Calibri"/>
              </a:rPr>
              <a:t>Cloud MongoDB — free tier, accessible from anywhere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924544" y="1325880"/>
            <a:ext cx="2651760" cy="384048"/>
          </a:xfrm>
          <a:prstGeom prst="rect">
            <a:avLst/>
          </a:prstGeom>
          <a:solidFill>
            <a:srgbClr val="C89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15984" y="134416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SECURITY LAYER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24544" y="1801368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924544" y="1801368"/>
            <a:ext cx="45720" cy="1463040"/>
          </a:xfrm>
          <a:prstGeom prst="rect">
            <a:avLst/>
          </a:prstGeom>
          <a:solidFill>
            <a:srgbClr val="C89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89136" y="196596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714"/>
                </a:solidFill>
                <a:latin typeface="Calibri"/>
              </a:rPr>
              <a:t>Helmet.js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89136" y="2350008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A9188"/>
                </a:solidFill>
                <a:latin typeface="Calibri"/>
              </a:rPr>
              <a:t>14 secure HTTP headers — XSS, clickjacking protection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24544" y="3374136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924544" y="3374136"/>
            <a:ext cx="45720" cy="1463040"/>
          </a:xfrm>
          <a:prstGeom prst="rect">
            <a:avLst/>
          </a:prstGeom>
          <a:solidFill>
            <a:srgbClr val="C89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89136" y="353872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714"/>
                </a:solidFill>
                <a:latin typeface="Calibri"/>
              </a:rPr>
              <a:t>express-rate-limit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89136" y="3922776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A9188"/>
                </a:solidFill>
                <a:latin typeface="Calibri"/>
              </a:rPr>
              <a:t>Max 100 req/15min, 10 uploads/hr per IP address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24544" y="4946904"/>
            <a:ext cx="265176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924544" y="4946904"/>
            <a:ext cx="45720" cy="1463040"/>
          </a:xfrm>
          <a:prstGeom prst="rect">
            <a:avLst/>
          </a:prstGeom>
          <a:solidFill>
            <a:srgbClr val="C89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89136" y="511149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714"/>
                </a:solidFill>
                <a:latin typeface="Calibri"/>
              </a:rPr>
              <a:t>mongo-sanitize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89136" y="5495544"/>
            <a:ext cx="2377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A9188"/>
                </a:solidFill>
                <a:latin typeface="Calibri"/>
              </a:rPr>
              <a:t>Strips $ and . from inputs — prevents NoSQL injection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09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9188"/>
                </a:solidFill>
                <a:latin typeface="Calibri"/>
              </a:rPr>
              <a:t>SlideVault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188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System Architecture &amp; Data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371600" cy="5486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560320"/>
            <a:ext cx="2011680" cy="1554480"/>
          </a:xfrm>
          <a:prstGeom prst="rect">
            <a:avLst/>
          </a:prstGeom>
          <a:solidFill>
            <a:srgbClr val="25221F"/>
          </a:solidFill>
          <a:ln w="19050">
            <a:solidFill>
              <a:srgbClr val="2F6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834639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F6EC8"/>
                </a:solidFill>
                <a:latin typeface="Calibri"/>
              </a:rPr>
              <a:t>👤 USER
Browser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2560320"/>
            <a:ext cx="2011680" cy="1554480"/>
          </a:xfrm>
          <a:prstGeom prst="rect">
            <a:avLst/>
          </a:prstGeom>
          <a:solidFill>
            <a:srgbClr val="25221F"/>
          </a:solidFill>
          <a:ln w="19050">
            <a:solidFill>
              <a:srgbClr val="C84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2834639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84B2F"/>
                </a:solidFill>
                <a:latin typeface="Calibri"/>
              </a:rPr>
              <a:t>⚙️ EXPRESS
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2560320"/>
            <a:ext cx="2011680" cy="1554480"/>
          </a:xfrm>
          <a:prstGeom prst="rect">
            <a:avLst/>
          </a:prstGeom>
          <a:solidFill>
            <a:srgbClr val="25221F"/>
          </a:solidFill>
          <a:ln w="19050">
            <a:solidFill>
              <a:srgbClr val="2DA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2834639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DA06A"/>
                </a:solidFill>
                <a:latin typeface="Calibri"/>
              </a:rPr>
              <a:t>🗄️ MONGODB
Database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2560320"/>
            <a:ext cx="2011680" cy="1554480"/>
          </a:xfrm>
          <a:prstGeom prst="rect">
            <a:avLst/>
          </a:prstGeom>
          <a:solidFill>
            <a:srgbClr val="25221F"/>
          </a:solidFill>
          <a:ln w="19050">
            <a:solidFill>
              <a:srgbClr val="C89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2834639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8962F"/>
                </a:solidFill>
                <a:latin typeface="Calibri"/>
              </a:rPr>
              <a:t>📁 UPLOADS
File Storage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3154680"/>
            <a:ext cx="228600" cy="73152"/>
          </a:xfrm>
          <a:prstGeom prst="rect">
            <a:avLst/>
          </a:prstGeom>
          <a:solidFill>
            <a:srgbClr val="9A9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30175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A9188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3375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9188"/>
                </a:solidFill>
                <a:latin typeface="Calibri"/>
              </a:rPr>
              <a:t>HTTP
fetch()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9160" y="3154680"/>
            <a:ext cx="228600" cy="73152"/>
          </a:xfrm>
          <a:prstGeom prst="rect">
            <a:avLst/>
          </a:prstGeom>
          <a:solidFill>
            <a:srgbClr val="9A9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30175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A9188"/>
                </a:solidFill>
                <a:latin typeface="Calibr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3375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9188"/>
                </a:solidFill>
                <a:latin typeface="Calibri"/>
              </a:rPr>
              <a:t>Mongoose
Queries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3154680"/>
            <a:ext cx="228600" cy="73152"/>
          </a:xfrm>
          <a:prstGeom prst="rect">
            <a:avLst/>
          </a:prstGeom>
          <a:solidFill>
            <a:srgbClr val="9A9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30175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9A9188"/>
                </a:solidFill>
                <a:latin typeface="Calibr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3375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A9188"/>
                </a:solidFill>
                <a:latin typeface="Calibri"/>
              </a:rPr>
              <a:t>fs.write
/uploads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434840"/>
            <a:ext cx="11430000" cy="384048"/>
          </a:xfrm>
          <a:prstGeom prst="rect">
            <a:avLst/>
          </a:prstGeom>
          <a:solidFill>
            <a:srgbClr val="221F1C"/>
          </a:solidFill>
          <a:ln w="6350">
            <a:solidFill>
              <a:srgbClr val="353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462272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9188"/>
                </a:solidFill>
                <a:latin typeface="Calibri"/>
              </a:rPr>
              <a:t>1  User opens localhost:3000  →  Express serves index.html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873752"/>
            <a:ext cx="11430000" cy="384048"/>
          </a:xfrm>
          <a:prstGeom prst="rect">
            <a:avLst/>
          </a:prstGeom>
          <a:solidFill>
            <a:srgbClr val="221F1C"/>
          </a:solidFill>
          <a:ln w="6350">
            <a:solidFill>
              <a:srgbClr val="353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901183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9188"/>
                </a:solidFill>
                <a:latin typeface="Calibri"/>
              </a:rPr>
              <a:t>2  Browser calls GET /api/presentations  →  Mongoose queries MongoDB  →  JSON returned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312664"/>
            <a:ext cx="11430000" cy="384048"/>
          </a:xfrm>
          <a:prstGeom prst="rect">
            <a:avLst/>
          </a:prstGeom>
          <a:solidFill>
            <a:srgbClr val="221F1C"/>
          </a:solidFill>
          <a:ln w="6350">
            <a:solidFill>
              <a:srgbClr val="353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340096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9188"/>
                </a:solidFill>
                <a:latin typeface="Calibri"/>
              </a:rPr>
              <a:t>3  User uploads file  →  Multer saves to /uploads  →  Presentation doc saved in MongoDB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751575"/>
            <a:ext cx="11430000" cy="384048"/>
          </a:xfrm>
          <a:prstGeom prst="rect">
            <a:avLst/>
          </a:prstGeom>
          <a:solidFill>
            <a:srgbClr val="221F1C"/>
          </a:solidFill>
          <a:ln w="6350">
            <a:solidFill>
              <a:srgbClr val="353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779008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9188"/>
                </a:solidFill>
                <a:latin typeface="Calibri"/>
              </a:rPr>
              <a:t>4  User views slide  →  PATCH /view  →  MongoDB increments view count  →  Stats update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6190488"/>
            <a:ext cx="11430000" cy="384048"/>
          </a:xfrm>
          <a:prstGeom prst="rect">
            <a:avLst/>
          </a:prstGeom>
          <a:solidFill>
            <a:srgbClr val="221F1C"/>
          </a:solidFill>
          <a:ln w="6350">
            <a:solidFill>
              <a:srgbClr val="353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217920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9188"/>
                </a:solidFill>
                <a:latin typeface="Calibri"/>
              </a:rPr>
              <a:t>5  User deletes  →  DELETE /id + token  →  timingSafeEqual check  →  DB + disk delete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09760" y="2286000"/>
            <a:ext cx="2468880" cy="2103120"/>
          </a:xfrm>
          <a:prstGeom prst="rect">
            <a:avLst/>
          </a:prstGeom>
          <a:solidFill>
            <a:srgbClr val="1E1C19"/>
          </a:solidFill>
          <a:ln w="6350">
            <a:solidFill>
              <a:srgbClr val="3A3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46920" y="2377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4B2F"/>
                </a:solidFill>
                <a:latin typeface="Calibri"/>
              </a:rPr>
              <a:t>MVC Pattern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46920" y="274320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9A9188"/>
                </a:solidFill>
                <a:latin typeface="Calibri"/>
              </a:rPr>
              <a:t>Model → Presentation.js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9A9188"/>
                </a:solidFill>
                <a:latin typeface="Calibri"/>
              </a:rPr>
              <a:t>View  → index.html + CSS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9A9188"/>
                </a:solidFill>
                <a:latin typeface="Calibri"/>
              </a:rPr>
              <a:t>Controller → server.js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09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9188"/>
                </a:solidFill>
                <a:latin typeface="Calibri"/>
              </a:rPr>
              <a:t>SlideVault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188"/>
                </a:solidFill>
                <a:latin typeface="Calibri"/>
              </a:rPr>
              <a:t>Pseudocode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714"/>
                </a:solidFill>
                <a:latin typeface="Georgia"/>
              </a:rPr>
              <a:t>Core Algorithm — Pseudocode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371600" cy="5486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669280" cy="384048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5331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UPLOAD PRESENTATION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09928"/>
            <a:ext cx="5669280" cy="4937760"/>
          </a:xfrm>
          <a:prstGeom prst="rect">
            <a:avLst/>
          </a:prstGeom>
          <a:solidFill>
            <a:srgbClr val="1A1714"/>
          </a:solidFill>
          <a:ln w="6350">
            <a:solidFill>
              <a:srgbClr val="3A3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0136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4B2F"/>
                </a:solidFill>
                <a:latin typeface="Consolas"/>
              </a:rPr>
              <a:t>FUNCTION uploadPresentation(formData):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84831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962F"/>
                </a:solidFill>
                <a:latin typeface="Consolas"/>
              </a:rPr>
              <a:t>  IF user NOT logged in THEN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6829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onsolas"/>
              </a:rPr>
              <a:t>    SHOW login modal → RETURN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517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962F"/>
                </a:solidFill>
                <a:latin typeface="Consolas"/>
              </a:rPr>
              <a:t>  ENDIF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3522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onsolas"/>
              </a:rPr>
              <a:t>  VALIDATE title, author, category, desc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1868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962F"/>
                </a:solidFill>
                <a:latin typeface="Consolas"/>
              </a:rPr>
              <a:t>  IF any field invalid THEN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5021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onsolas"/>
              </a:rPr>
              <a:t>    SHOW error message → RETURN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785615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962F"/>
                </a:solidFill>
                <a:latin typeface="Consolas"/>
              </a:rPr>
              <a:t>  ENDIF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0690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onsolas"/>
              </a:rPr>
              <a:t>  CREATE FormData with file + metadata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35254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onsolas"/>
              </a:rPr>
              <a:t>  CALL POST /api/presentations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63600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A06A"/>
                </a:solidFill>
                <a:latin typeface="Consolas"/>
              </a:rPr>
              <a:t>  SERVER: run Multer → save file to disk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91947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A06A"/>
                </a:solidFill>
                <a:latin typeface="Consolas"/>
              </a:rPr>
              <a:t>  SERVER: generate deleteToken (64-char hex)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20293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A06A"/>
                </a:solidFill>
                <a:latin typeface="Consolas"/>
              </a:rPr>
              <a:t>  SERVER: save Presentation doc to MongoDB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4864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962F"/>
                </a:solidFill>
                <a:latin typeface="Consolas"/>
              </a:rPr>
              <a:t>  RETURN deleteToken to browser (ONCE ONLY)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76986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onsolas"/>
              </a:rPr>
              <a:t>  SAVE token in localStorage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0533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onsolas"/>
              </a:rPr>
              <a:t>  SHOW success + token popup to user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1325880"/>
            <a:ext cx="5669280" cy="384048"/>
          </a:xfrm>
          <a:prstGeom prst="rect">
            <a:avLst/>
          </a:prstGeom>
          <a:solidFill>
            <a:srgbClr val="1A1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35331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DELETE PRESENTATION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1709928"/>
            <a:ext cx="5669280" cy="4937760"/>
          </a:xfrm>
          <a:prstGeom prst="rect">
            <a:avLst/>
          </a:prstGeom>
          <a:solidFill>
            <a:srgbClr val="1E1C19"/>
          </a:solidFill>
          <a:ln w="6350">
            <a:solidFill>
              <a:srgbClr val="3A3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180136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4B2F"/>
                </a:solidFill>
                <a:latin typeface="Consolas"/>
              </a:rPr>
              <a:t>FUNCTION deletePresentation(id):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2084831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onsolas"/>
              </a:rPr>
              <a:t>  GET deleteToken from localStorage[id]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236829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962F"/>
                </a:solidFill>
                <a:latin typeface="Consolas"/>
              </a:rPr>
              <a:t>  IF token NOT found THEN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26517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onsolas"/>
              </a:rPr>
              <a:t>    SHOW 'Not your presentation' error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293522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962F"/>
                </a:solidFill>
                <a:latin typeface="Consolas"/>
              </a:rPr>
              <a:t>    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21868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962F"/>
                </a:solidFill>
                <a:latin typeface="Consolas"/>
              </a:rPr>
              <a:t>  ENDIF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5021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onsolas"/>
              </a:rPr>
              <a:t>  CONFIRM with user dialog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785615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onsolas"/>
              </a:rPr>
              <a:t>  CALL DELETE /api/presentations/:id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0690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onsolas"/>
              </a:rPr>
              <a:t>    BODY: { deleteToken 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35254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A06A"/>
                </a:solidFill>
                <a:latin typeface="Consolas"/>
              </a:rPr>
              <a:t>  SERVER: find Presentation by 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463600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A06A"/>
                </a:solidFill>
                <a:latin typeface="Consolas"/>
              </a:rPr>
              <a:t>  SERVER: timingSafeEqual(input, stored)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491947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962F"/>
                </a:solidFill>
                <a:latin typeface="Consolas"/>
              </a:rPr>
              <a:t>  IF tokens DON'T match THEN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520293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962F"/>
                </a:solidFill>
                <a:latin typeface="Consolas"/>
              </a:rPr>
              <a:t>    RETURN 403 Access Denied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54864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962F"/>
                </a:solidFill>
                <a:latin typeface="Consolas"/>
              </a:rPr>
              <a:t>  ENDIF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576986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onsolas"/>
              </a:rPr>
              <a:t>  DELETE from MongoDB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60533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onsolas"/>
              </a:rPr>
              <a:t>  DELETE file from /uploads disk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09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9188"/>
                </a:solidFill>
                <a:latin typeface="Calibri"/>
              </a:rPr>
              <a:t>SlideVault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188"/>
                </a:solidFill>
                <a:latin typeface="Calibri"/>
              </a:rPr>
              <a:t>Project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Project Workflow — Step by 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371600" cy="5486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657600" cy="2331720"/>
          </a:xfrm>
          <a:prstGeom prst="rect">
            <a:avLst/>
          </a:prstGeom>
          <a:solidFill>
            <a:srgbClr val="221F1C"/>
          </a:solidFill>
          <a:ln w="9525">
            <a:solidFill>
              <a:srgbClr val="353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3657600" cy="5486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18488"/>
            <a:ext cx="822960" cy="822960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618488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673352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Requirement
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87752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9188"/>
                </a:solidFill>
                <a:latin typeface="Calibri"/>
              </a:rPr>
              <a:t>Identified 4 core needs:
Upload · Preview · Categorize · Track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2194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4B2F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417320"/>
            <a:ext cx="3657600" cy="2331720"/>
          </a:xfrm>
          <a:prstGeom prst="rect">
            <a:avLst/>
          </a:prstGeom>
          <a:solidFill>
            <a:srgbClr val="221F1C"/>
          </a:solidFill>
          <a:ln w="9525">
            <a:solidFill>
              <a:srgbClr val="353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417320"/>
            <a:ext cx="3657600" cy="54864"/>
          </a:xfrm>
          <a:prstGeom prst="rect">
            <a:avLst/>
          </a:prstGeom>
          <a:solidFill>
            <a:srgbClr val="2F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60" y="1618488"/>
            <a:ext cx="822960" cy="822960"/>
          </a:xfrm>
          <a:prstGeom prst="rect">
            <a:avLst/>
          </a:prstGeom>
          <a:solidFill>
            <a:srgbClr val="2F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618488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1673352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Database
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587752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9188"/>
                </a:solidFill>
                <a:latin typeface="Calibri"/>
              </a:rPr>
              <a:t>Designed MongoDB schema
with 15 fields + timestamps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2194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F6EC8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417320"/>
            <a:ext cx="3657600" cy="2331720"/>
          </a:xfrm>
          <a:prstGeom prst="rect">
            <a:avLst/>
          </a:prstGeom>
          <a:solidFill>
            <a:srgbClr val="221F1C"/>
          </a:solidFill>
          <a:ln w="9525">
            <a:solidFill>
              <a:srgbClr val="353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417320"/>
            <a:ext cx="3657600" cy="54864"/>
          </a:xfrm>
          <a:prstGeom prst="rect">
            <a:avLst/>
          </a:prstGeom>
          <a:solidFill>
            <a:srgbClr val="2D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0" y="1618488"/>
            <a:ext cx="822960" cy="822960"/>
          </a:xfrm>
          <a:prstGeom prst="rect">
            <a:avLst/>
          </a:prstGeom>
          <a:solidFill>
            <a:srgbClr val="2D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1618488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1673352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Backend
Development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587752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9188"/>
                </a:solidFill>
                <a:latin typeface="Calibri"/>
              </a:rPr>
              <a:t>Built 8 REST API routes
with Express + Mongoose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023360"/>
            <a:ext cx="3657600" cy="2331720"/>
          </a:xfrm>
          <a:prstGeom prst="rect">
            <a:avLst/>
          </a:prstGeom>
          <a:solidFill>
            <a:srgbClr val="221F1C"/>
          </a:solidFill>
          <a:ln w="9525">
            <a:solidFill>
              <a:srgbClr val="353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4023360"/>
            <a:ext cx="3657600" cy="54864"/>
          </a:xfrm>
          <a:prstGeom prst="rect">
            <a:avLst/>
          </a:prstGeom>
          <a:solidFill>
            <a:srgbClr val="C89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4224528"/>
            <a:ext cx="822960" cy="822960"/>
          </a:xfrm>
          <a:prstGeom prst="rect">
            <a:avLst/>
          </a:prstGeom>
          <a:solidFill>
            <a:srgbClr val="C89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224528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4279392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Frontend
Development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193792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9188"/>
                </a:solidFill>
                <a:latin typeface="Calibri"/>
              </a:rPr>
              <a:t>3-page SPA with vanilla JS
Fetch API calls to backend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9080" y="4800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C8962F"/>
                </a:solidFill>
                <a:latin typeface="Calibr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0" y="4023360"/>
            <a:ext cx="3657600" cy="2331720"/>
          </a:xfrm>
          <a:prstGeom prst="rect">
            <a:avLst/>
          </a:prstGeom>
          <a:solidFill>
            <a:srgbClr val="221F1C"/>
          </a:solidFill>
          <a:ln w="9525">
            <a:solidFill>
              <a:srgbClr val="353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97680" y="4023360"/>
            <a:ext cx="3657600" cy="54864"/>
          </a:xfrm>
          <a:prstGeom prst="rect">
            <a:avLst/>
          </a:prstGeom>
          <a:solidFill>
            <a:srgbClr val="A8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80560" y="4224528"/>
            <a:ext cx="822960" cy="822960"/>
          </a:xfrm>
          <a:prstGeom prst="rect">
            <a:avLst/>
          </a:prstGeom>
          <a:solidFill>
            <a:srgbClr val="A8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0560" y="4224528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4279392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Security
Integration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5193792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9188"/>
                </a:solidFill>
                <a:latin typeface="Calibri"/>
              </a:rPr>
              <a:t>Added Helmet, rate limit
XSS clean, input validation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0" y="4800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855FF"/>
                </a:solidFill>
                <a:latin typeface="Calibri"/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4023360"/>
            <a:ext cx="3657600" cy="2331720"/>
          </a:xfrm>
          <a:prstGeom prst="rect">
            <a:avLst/>
          </a:prstGeom>
          <a:solidFill>
            <a:srgbClr val="221F1C"/>
          </a:solidFill>
          <a:ln w="9525">
            <a:solidFill>
              <a:srgbClr val="353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29600" y="4023360"/>
            <a:ext cx="3657600" cy="5486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412480" y="4224528"/>
            <a:ext cx="822960" cy="822960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0" y="4224528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72600" y="4279392"/>
            <a:ext cx="2286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Testing &amp;
Deployment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5193792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9188"/>
                </a:solidFill>
                <a:latin typeface="Calibri"/>
              </a:rPr>
              <a:t>Tested all API routes
Deployed on Render + Atlas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09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9188"/>
                </a:solidFill>
                <a:latin typeface="Calibri"/>
              </a:rPr>
              <a:t>SlideVault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188"/>
                </a:solidFill>
                <a:latin typeface="Calibri"/>
              </a:rPr>
              <a:t>API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714"/>
                </a:solidFill>
                <a:latin typeface="Georgia"/>
              </a:rPr>
              <a:t>REST API — 8 Endpoints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097280" cy="5486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98448"/>
            <a:ext cx="1051560" cy="384048"/>
          </a:xfrm>
          <a:prstGeom prst="rect">
            <a:avLst/>
          </a:prstGeom>
          <a:solidFill>
            <a:srgbClr val="1A1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960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1298448"/>
            <a:ext cx="1417320" cy="384048"/>
          </a:xfrm>
          <a:prstGeom prst="rect">
            <a:avLst/>
          </a:prstGeom>
          <a:solidFill>
            <a:srgbClr val="1A1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1325880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ENDPOINT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1298448"/>
            <a:ext cx="4343400" cy="384048"/>
          </a:xfrm>
          <a:prstGeom prst="rect">
            <a:avLst/>
          </a:prstGeom>
          <a:solidFill>
            <a:srgbClr val="1A1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1325880"/>
            <a:ext cx="42519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1298448"/>
            <a:ext cx="3611880" cy="384048"/>
          </a:xfrm>
          <a:prstGeom prst="rect">
            <a:avLst/>
          </a:prstGeom>
          <a:solidFill>
            <a:srgbClr val="1A1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32588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RESPONSE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737360"/>
            <a:ext cx="1147572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E2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1737360"/>
            <a:ext cx="1051560" cy="548640"/>
          </a:xfrm>
          <a:prstGeom prst="rect">
            <a:avLst/>
          </a:prstGeom>
          <a:solidFill>
            <a:srgbClr val="228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1810512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1828800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4B2F"/>
                </a:solidFill>
                <a:latin typeface="Consolas"/>
              </a:rPr>
              <a:t>/api/presentations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4368" y="1828800"/>
            <a:ext cx="4343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714"/>
                </a:solidFill>
                <a:latin typeface="Calibri"/>
              </a:rPr>
              <a:t>List all — supports ?cat &amp;search &amp;sort filters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1828800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JSON array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322576"/>
            <a:ext cx="11475720" cy="548640"/>
          </a:xfrm>
          <a:prstGeom prst="rect">
            <a:avLst/>
          </a:prstGeom>
          <a:solidFill>
            <a:srgbClr val="F2EFE9"/>
          </a:solidFill>
          <a:ln w="3810">
            <a:solidFill>
              <a:srgbClr val="E2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2322576"/>
            <a:ext cx="1051560" cy="548640"/>
          </a:xfrm>
          <a:prstGeom prst="rect">
            <a:avLst/>
          </a:prstGeom>
          <a:solidFill>
            <a:srgbClr val="228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2395728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2414016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4B2F"/>
                </a:solidFill>
                <a:latin typeface="Consolas"/>
              </a:rPr>
              <a:t>/api/presentations/:id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44368" y="2414016"/>
            <a:ext cx="4343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714"/>
                </a:solidFill>
                <a:latin typeface="Calibri"/>
              </a:rPr>
              <a:t>Get single presentation by MongoDB _id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3488" y="2414016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JSON object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907791"/>
            <a:ext cx="1147572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E2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2907791"/>
            <a:ext cx="1051560" cy="548640"/>
          </a:xfrm>
          <a:prstGeom prst="rect">
            <a:avLst/>
          </a:prstGeom>
          <a:solidFill>
            <a:srgbClr val="2F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2980944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POST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2999232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4B2F"/>
                </a:solidFill>
                <a:latin typeface="Consolas"/>
              </a:rPr>
              <a:t>/api/presentations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44368" y="2999232"/>
            <a:ext cx="4343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714"/>
                </a:solidFill>
                <a:latin typeface="Calibri"/>
              </a:rPr>
              <a:t>Upload new — multipart/form-data with file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33488" y="2999232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201 + deleteToken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493008"/>
            <a:ext cx="11475720" cy="548640"/>
          </a:xfrm>
          <a:prstGeom prst="rect">
            <a:avLst/>
          </a:prstGeom>
          <a:solidFill>
            <a:srgbClr val="F2EFE9"/>
          </a:solidFill>
          <a:ln w="3810">
            <a:solidFill>
              <a:srgbClr val="E2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3493008"/>
            <a:ext cx="1051560" cy="548640"/>
          </a:xfrm>
          <a:prstGeom prst="rect">
            <a:avLst/>
          </a:prstGeom>
          <a:solidFill>
            <a:srgbClr val="C89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3566160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PATCH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3584448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4B2F"/>
                </a:solidFill>
                <a:latin typeface="Consolas"/>
              </a:rPr>
              <a:t>/api/presentations/:id/view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44368" y="3584448"/>
            <a:ext cx="4343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714"/>
                </a:solidFill>
                <a:latin typeface="Calibri"/>
              </a:rPr>
              <a:t>Increment view count by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33488" y="3584448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Updated doc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078224"/>
            <a:ext cx="1147572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E2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4078224"/>
            <a:ext cx="1051560" cy="548640"/>
          </a:xfrm>
          <a:prstGeom prst="rect">
            <a:avLst/>
          </a:prstGeom>
          <a:solidFill>
            <a:srgbClr val="C89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4048" y="4151376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PATCH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81328" y="4169663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4B2F"/>
                </a:solidFill>
                <a:latin typeface="Consolas"/>
              </a:rPr>
              <a:t>/api/presentations/:id/download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44368" y="4169663"/>
            <a:ext cx="4343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714"/>
                </a:solidFill>
                <a:latin typeface="Calibri"/>
              </a:rPr>
              <a:t>Increment download count by 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33488" y="4169663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Updated doc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663440"/>
            <a:ext cx="11475720" cy="548640"/>
          </a:xfrm>
          <a:prstGeom prst="rect">
            <a:avLst/>
          </a:prstGeom>
          <a:solidFill>
            <a:srgbClr val="F2EFE9"/>
          </a:solidFill>
          <a:ln w="3810">
            <a:solidFill>
              <a:srgbClr val="E2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65760" y="4663440"/>
            <a:ext cx="1051560" cy="548640"/>
          </a:xfrm>
          <a:prstGeom prst="rect">
            <a:avLst/>
          </a:prstGeom>
          <a:solidFill>
            <a:srgbClr val="C89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4736592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PATCH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81328" y="4754879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4B2F"/>
                </a:solidFill>
                <a:latin typeface="Consolas"/>
              </a:rPr>
              <a:t>/api/presentations/:id/like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44368" y="4754879"/>
            <a:ext cx="4343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714"/>
                </a:solidFill>
                <a:latin typeface="Calibri"/>
              </a:rPr>
              <a:t>Toggle like — body: { action: like/unlike }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33488" y="4754879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Updated doc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5248656"/>
            <a:ext cx="1147572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E2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65760" y="5248656"/>
            <a:ext cx="1051560" cy="548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84048" y="5321808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DELETE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81328" y="5340096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4B2F"/>
                </a:solidFill>
                <a:latin typeface="Consolas"/>
              </a:rPr>
              <a:t>/api/presentations/:id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44368" y="5340096"/>
            <a:ext cx="4343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714"/>
                </a:solidFill>
                <a:latin typeface="Calibri"/>
              </a:rPr>
              <a:t>Delete with secret token — body: { deleteToken }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33488" y="5340096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200 success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5833872"/>
            <a:ext cx="11475720" cy="548640"/>
          </a:xfrm>
          <a:prstGeom prst="rect">
            <a:avLst/>
          </a:prstGeom>
          <a:solidFill>
            <a:srgbClr val="F2EFE9"/>
          </a:solidFill>
          <a:ln w="3810">
            <a:solidFill>
              <a:srgbClr val="E2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65760" y="5833872"/>
            <a:ext cx="1051560" cy="548640"/>
          </a:xfrm>
          <a:prstGeom prst="rect">
            <a:avLst/>
          </a:prstGeom>
          <a:solidFill>
            <a:srgbClr val="228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84048" y="5907024"/>
            <a:ext cx="1005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onsolas"/>
              </a:rPr>
              <a:t>GET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81328" y="5925312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84B2F"/>
                </a:solidFill>
                <a:latin typeface="Consolas"/>
              </a:rPr>
              <a:t>/api/stats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44368" y="5925312"/>
            <a:ext cx="4343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714"/>
                </a:solidFill>
                <a:latin typeface="Calibri"/>
              </a:rPr>
              <a:t>Platform totals — count, sum(downloads), sum(views)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33488" y="5925312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Stats JSON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09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9188"/>
                </a:solidFill>
                <a:latin typeface="Calibri"/>
              </a:rPr>
              <a:t>SlideVault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188"/>
                </a:solidFill>
                <a:latin typeface="Calibri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Security Features Implemented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371600" cy="5486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2834640" cy="2286000"/>
          </a:xfrm>
          <a:prstGeom prst="rect">
            <a:avLst/>
          </a:prstGeom>
          <a:solidFill>
            <a:srgbClr val="221F1C"/>
          </a:solidFill>
          <a:ln w="12700">
            <a:solidFill>
              <a:srgbClr val="C84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8191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714"/>
                </a:solidFill>
                <a:latin typeface="Calibri"/>
              </a:rPr>
              <a:t>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645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4B2F"/>
                </a:solidFill>
                <a:latin typeface="Calibri"/>
              </a:rPr>
              <a:t>Helmet.js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2560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A9188"/>
                </a:solidFill>
                <a:latin typeface="Calibri"/>
              </a:rPr>
              <a:t>Sets 14 secure HTTP response headers automatically.
Prevents: Clickjacking, MIME sniffing, XSS via headers.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9272" y="1417320"/>
            <a:ext cx="2834640" cy="2286000"/>
          </a:xfrm>
          <a:prstGeom prst="rect">
            <a:avLst/>
          </a:prstGeom>
          <a:solidFill>
            <a:srgbClr val="221F1C"/>
          </a:solidFill>
          <a:ln w="12700">
            <a:solidFill>
              <a:srgbClr val="2F6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158191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714"/>
                </a:solidFill>
                <a:latin typeface="Calibri"/>
              </a:rPr>
              <a:t>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7952" y="1645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F6EC8"/>
                </a:solidFill>
                <a:latin typeface="Calibri"/>
              </a:rPr>
              <a:t>Rate Limiting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194560"/>
            <a:ext cx="2560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A9188"/>
                </a:solidFill>
                <a:latin typeface="Calibri"/>
              </a:rPr>
              <a:t>100 requests/15min · 10 uploads/hr · 20 deletes/hr.
Prevents: Spam attacks, brute force, DoS.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2784" y="1417320"/>
            <a:ext cx="2834640" cy="2286000"/>
          </a:xfrm>
          <a:prstGeom prst="rect">
            <a:avLst/>
          </a:prstGeom>
          <a:solidFill>
            <a:srgbClr val="221F1C"/>
          </a:solidFill>
          <a:ln w="12700">
            <a:solidFill>
              <a:srgbClr val="2DA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158191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714"/>
                </a:solidFill>
                <a:latin typeface="Calibri"/>
              </a:rPr>
              <a:t>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1464" y="1645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A06A"/>
                </a:solidFill>
                <a:latin typeface="Calibri"/>
              </a:rPr>
              <a:t>Mongo Sanitize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2194560"/>
            <a:ext cx="2560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A9188"/>
                </a:solidFill>
                <a:latin typeface="Calibri"/>
              </a:rPr>
              <a:t>Strips $ and . from all user inputs before DB query.
Prevents: MongoDB NoSQL injection attacks.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26296" y="1417320"/>
            <a:ext cx="2834640" cy="2286000"/>
          </a:xfrm>
          <a:prstGeom prst="rect">
            <a:avLst/>
          </a:prstGeom>
          <a:solidFill>
            <a:srgbClr val="221F1C"/>
          </a:solidFill>
          <a:ln w="12700">
            <a:solidFill>
              <a:srgbClr val="C89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09176" y="158191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714"/>
                </a:solidFill>
                <a:latin typeface="Calibri"/>
              </a:rPr>
              <a:t>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4976" y="1645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962F"/>
                </a:solidFill>
                <a:latin typeface="Calibri"/>
              </a:rPr>
              <a:t>XSS Clean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9176" y="2194560"/>
            <a:ext cx="2560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A9188"/>
                </a:solidFill>
                <a:latin typeface="Calibri"/>
              </a:rPr>
              <a:t>Removes &lt;script&gt; and HTML tags from all input fields.
Prevents: Cross-Site Scripting (XSS) attacks.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31920"/>
            <a:ext cx="2834640" cy="2286000"/>
          </a:xfrm>
          <a:prstGeom prst="rect">
            <a:avLst/>
          </a:prstGeom>
          <a:solidFill>
            <a:srgbClr val="221F1C"/>
          </a:solidFill>
          <a:ln w="12700">
            <a:solidFill>
              <a:srgbClr val="A85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096511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714"/>
                </a:solidFill>
                <a:latin typeface="Calibri"/>
              </a:rP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1605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55FF"/>
                </a:solidFill>
                <a:latin typeface="Calibri"/>
              </a:rPr>
              <a:t>Input 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709159"/>
            <a:ext cx="2560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A9188"/>
                </a:solidFill>
                <a:latin typeface="Calibri"/>
              </a:rPr>
              <a:t>Title 3-200 chars, desc 10-2000 chars, valid category.
Both frontend (JS) and backend (Express) validation.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19272" y="3931920"/>
            <a:ext cx="2834640" cy="2286000"/>
          </a:xfrm>
          <a:prstGeom prst="rect">
            <a:avLst/>
          </a:prstGeom>
          <a:solidFill>
            <a:srgbClr val="221F1C"/>
          </a:solidFill>
          <a:ln w="12700">
            <a:solidFill>
              <a:srgbClr val="C84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4096511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714"/>
                </a:solidFill>
                <a:latin typeface="Calibri"/>
              </a:rPr>
              <a:t>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87952" y="41605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84B2F"/>
                </a:solidFill>
                <a:latin typeface="Calibri"/>
              </a:rPr>
              <a:t>Delete Token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4709159"/>
            <a:ext cx="2560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A9188"/>
                </a:solidFill>
                <a:latin typeface="Calibri"/>
              </a:rPr>
              <a:t>64-char crypto random token — shown only once at upload.
crypto.timingSafeEqual prevents timing attacks.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72784" y="3931920"/>
            <a:ext cx="2834640" cy="2286000"/>
          </a:xfrm>
          <a:prstGeom prst="rect">
            <a:avLst/>
          </a:prstGeom>
          <a:solidFill>
            <a:srgbClr val="221F1C"/>
          </a:solidFill>
          <a:ln w="12700">
            <a:solidFill>
              <a:srgbClr val="2F6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4096511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714"/>
                </a:solidFill>
                <a:latin typeface="Calibri"/>
              </a:rPr>
              <a:t>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41464" y="41605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F6EC8"/>
                </a:solidFill>
                <a:latin typeface="Calibri"/>
              </a:rPr>
              <a:t>File Filter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4709159"/>
            <a:ext cx="2560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A9188"/>
                </a:solidFill>
                <a:latin typeface="Calibri"/>
              </a:rPr>
              <a:t>Only .pptx .pdf .ppt .key allowed — MIME type checked.
50MB max file size — multer rejects anything else.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26296" y="3931920"/>
            <a:ext cx="2834640" cy="2286000"/>
          </a:xfrm>
          <a:prstGeom prst="rect">
            <a:avLst/>
          </a:prstGeom>
          <a:solidFill>
            <a:srgbClr val="221F1C"/>
          </a:solidFill>
          <a:ln w="12700">
            <a:solidFill>
              <a:srgbClr val="2DA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09176" y="4096511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A1714"/>
                </a:solidFill>
                <a:latin typeface="Calibri"/>
              </a:rPr>
              <a:t>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94976" y="41605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DA06A"/>
                </a:solidFill>
                <a:latin typeface="Calibri"/>
              </a:rPr>
              <a:t>Regex Escape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09176" y="4709159"/>
            <a:ext cx="25603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A9188"/>
                </a:solidFill>
                <a:latin typeface="Calibri"/>
              </a:rPr>
              <a:t>Search input is escaped before MongoDB regex query.
Prevents: Regular Expression DoS (ReDoS) attacks.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09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9188"/>
                </a:solidFill>
                <a:latin typeface="Calibri"/>
              </a:rPr>
              <a:t>SlideVault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188"/>
                </a:solidFill>
                <a:latin typeface="Calibri"/>
              </a:rPr>
              <a:t>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714"/>
                </a:solidFill>
                <a:latin typeface="Georgia"/>
              </a:rPr>
              <a:t>MongoDB Schema — Presentation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645920" cy="5486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98448"/>
            <a:ext cx="7498079" cy="5349240"/>
          </a:xfrm>
          <a:prstGeom prst="rect">
            <a:avLst/>
          </a:prstGeom>
          <a:solidFill>
            <a:srgbClr val="1A1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98448"/>
            <a:ext cx="7498079" cy="384048"/>
          </a:xfrm>
          <a:prstGeom prst="rect">
            <a:avLst/>
          </a:prstGeom>
          <a:solidFill>
            <a:srgbClr val="1A1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4B2F"/>
                </a:solidFill>
                <a:latin typeface="Consolas"/>
              </a:rPr>
              <a:t>FIELD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32588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4B2F"/>
                </a:solidFill>
                <a:latin typeface="Consolas"/>
              </a:rPr>
              <a:t>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32588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4B2F"/>
                </a:solidFill>
                <a:latin typeface="Consolas"/>
              </a:rPr>
              <a:t>CONSTRAINT / NOTE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737360"/>
            <a:ext cx="7498079" cy="310896"/>
          </a:xfrm>
          <a:prstGeom prst="rect">
            <a:avLst/>
          </a:prstGeom>
          <a:solidFill>
            <a:srgbClr val="22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76479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4B2F"/>
                </a:solidFill>
                <a:latin typeface="Consolas"/>
              </a:rPr>
              <a:t>title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17647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6EC8"/>
                </a:solidFill>
                <a:latin typeface="Consolas"/>
              </a:rPr>
              <a:t>String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5072" y="176479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required, max 200 chars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059228"/>
            <a:ext cx="7498079" cy="310896"/>
          </a:xfrm>
          <a:prstGeom prst="rect">
            <a:avLst/>
          </a:prstGeom>
          <a:solidFill>
            <a:srgbClr val="1E1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08666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4B2F"/>
                </a:solidFill>
                <a:latin typeface="Consolas"/>
              </a:rPr>
              <a:t>author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42032" y="20866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6EC8"/>
                </a:solidFill>
                <a:latin typeface="Consolas"/>
              </a:rPr>
              <a:t>String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5072" y="20866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required, max 100 chars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381097"/>
            <a:ext cx="7498079" cy="310896"/>
          </a:xfrm>
          <a:prstGeom prst="rect">
            <a:avLst/>
          </a:prstGeom>
          <a:solidFill>
            <a:srgbClr val="22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408529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onsolas"/>
              </a:rPr>
              <a:t>institution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42032" y="2408529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6EC8"/>
                </a:solidFill>
                <a:latin typeface="Consolas"/>
              </a:rPr>
              <a:t>String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5072" y="2408529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optional, max 100 chars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702966"/>
            <a:ext cx="7498079" cy="310896"/>
          </a:xfrm>
          <a:prstGeom prst="rect">
            <a:avLst/>
          </a:prstGeom>
          <a:solidFill>
            <a:srgbClr val="1E1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73039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6EC8"/>
                </a:solidFill>
                <a:latin typeface="Consolas"/>
              </a:rPr>
              <a:t>cat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42032" y="273039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6EC8"/>
                </a:solidFill>
                <a:latin typeface="Consolas"/>
              </a:rPr>
              <a:t>String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5072" y="273039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enum: cs/math/physics/business...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024835"/>
            <a:ext cx="7498079" cy="310896"/>
          </a:xfrm>
          <a:prstGeom prst="rect">
            <a:avLst/>
          </a:prstGeom>
          <a:solidFill>
            <a:srgbClr val="22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052267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4B2F"/>
                </a:solidFill>
                <a:latin typeface="Consolas"/>
              </a:rPr>
              <a:t>desc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42032" y="3052267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6EC8"/>
                </a:solidFill>
                <a:latin typeface="Consolas"/>
              </a:rPr>
              <a:t>String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05072" y="3052267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required, max 2000 chars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346703"/>
            <a:ext cx="7498079" cy="310896"/>
          </a:xfrm>
          <a:prstGeom prst="rect">
            <a:avLst/>
          </a:prstGeom>
          <a:solidFill>
            <a:srgbClr val="1E1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374135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A06A"/>
                </a:solidFill>
                <a:latin typeface="Consolas"/>
              </a:rPr>
              <a:t>tags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42032" y="3374135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6EC8"/>
                </a:solidFill>
                <a:latin typeface="Consolas"/>
              </a:rPr>
              <a:t>[String]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5072" y="3374135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array, max 8 tags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668572"/>
            <a:ext cx="7498079" cy="310896"/>
          </a:xfrm>
          <a:prstGeom prst="rect">
            <a:avLst/>
          </a:prstGeom>
          <a:solidFill>
            <a:srgbClr val="22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369600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onsolas"/>
              </a:rPr>
              <a:t>slideCount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42032" y="369600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6EC8"/>
                </a:solidFill>
                <a:latin typeface="Consolas"/>
              </a:rPr>
              <a:t>Number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05072" y="369600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min 1, max 500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990441"/>
            <a:ext cx="7498079" cy="310896"/>
          </a:xfrm>
          <a:prstGeom prst="rect">
            <a:avLst/>
          </a:prstGeom>
          <a:solidFill>
            <a:srgbClr val="1E1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4017873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962F"/>
                </a:solidFill>
                <a:latin typeface="Consolas"/>
              </a:rPr>
              <a:t>access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42032" y="4017873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6EC8"/>
                </a:solidFill>
                <a:latin typeface="Consolas"/>
              </a:rPr>
              <a:t>String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05072" y="4017873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enum: free/preview/request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312310"/>
            <a:ext cx="7498079" cy="310896"/>
          </a:xfrm>
          <a:prstGeom prst="rect">
            <a:avLst/>
          </a:prstGeom>
          <a:solidFill>
            <a:srgbClr val="22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433974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onsolas"/>
              </a:rPr>
              <a:t>filename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42032" y="433974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6EC8"/>
                </a:solidFill>
                <a:latin typeface="Consolas"/>
              </a:rPr>
              <a:t>String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05072" y="433974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multer saved filename on disk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4634179"/>
            <a:ext cx="7498079" cy="310896"/>
          </a:xfrm>
          <a:prstGeom prst="rect">
            <a:avLst/>
          </a:prstGeom>
          <a:solidFill>
            <a:srgbClr val="1E1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4661611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A06A"/>
                </a:solidFill>
                <a:latin typeface="Consolas"/>
              </a:rPr>
              <a:t>downloads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42032" y="4661611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6EC8"/>
                </a:solidFill>
                <a:latin typeface="Consolas"/>
              </a:rPr>
              <a:t>Number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05072" y="4661611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auto-incremented on download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4956048"/>
            <a:ext cx="7498079" cy="310896"/>
          </a:xfrm>
          <a:prstGeom prst="rect">
            <a:avLst/>
          </a:prstGeom>
          <a:solidFill>
            <a:srgbClr val="22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498348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A06A"/>
                </a:solidFill>
                <a:latin typeface="Consolas"/>
              </a:rPr>
              <a:t>views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42032" y="49834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6EC8"/>
                </a:solidFill>
                <a:latin typeface="Consolas"/>
              </a:rPr>
              <a:t>Number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05072" y="49834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auto-incremented on modal open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5277916"/>
            <a:ext cx="7498079" cy="310896"/>
          </a:xfrm>
          <a:prstGeom prst="rect">
            <a:avLst/>
          </a:prstGeom>
          <a:solidFill>
            <a:srgbClr val="1E1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53053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A06A"/>
                </a:solidFill>
                <a:latin typeface="Consolas"/>
              </a:rPr>
              <a:t>likes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42032" y="530534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6EC8"/>
                </a:solidFill>
                <a:latin typeface="Consolas"/>
              </a:rPr>
              <a:t>Number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05072" y="530534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toggled +1/-1 per user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5760" y="5599785"/>
            <a:ext cx="7498079" cy="310896"/>
          </a:xfrm>
          <a:prstGeom prst="rect">
            <a:avLst/>
          </a:prstGeom>
          <a:solidFill>
            <a:srgbClr val="22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920" y="5627217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4B2F"/>
                </a:solidFill>
                <a:latin typeface="Consolas"/>
              </a:rPr>
              <a:t>deleteToken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542032" y="5627217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6EC8"/>
                </a:solidFill>
                <a:latin typeface="Consolas"/>
              </a:rPr>
              <a:t>String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05072" y="5627217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select:false — never in API response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5921654"/>
            <a:ext cx="7498079" cy="310896"/>
          </a:xfrm>
          <a:prstGeom prst="rect">
            <a:avLst/>
          </a:prstGeom>
          <a:solidFill>
            <a:srgbClr val="1E1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2920" y="594908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onsolas"/>
              </a:rPr>
              <a:t>createdAt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42032" y="594908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6EC8"/>
                </a:solidFill>
                <a:latin typeface="Consolas"/>
              </a:rPr>
              <a:t>Date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05072" y="594908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auto by Mongoose timestamps:true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" y="6243523"/>
            <a:ext cx="7498079" cy="310896"/>
          </a:xfrm>
          <a:prstGeom prst="rect">
            <a:avLst/>
          </a:prstGeom>
          <a:solidFill>
            <a:srgbClr val="22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6270955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onsolas"/>
              </a:rPr>
              <a:t>updatedAt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542032" y="6270955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F6EC8"/>
                </a:solidFill>
                <a:latin typeface="Consolas"/>
              </a:rPr>
              <a:t>Date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005072" y="6270955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auto by Mongoose timestamps:true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046720" y="1298448"/>
            <a:ext cx="3794760" cy="5349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046720" y="1298448"/>
            <a:ext cx="3794760" cy="384048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183879" y="132588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WHY MONGODB?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83879" y="187451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714"/>
                </a:solidFill>
                <a:latin typeface="Calibri"/>
              </a:rPr>
              <a:t>📄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686800" y="1892807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714"/>
                </a:solidFill>
                <a:latin typeface="Calibri"/>
              </a:rPr>
              <a:t>Schema-flexible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686800" y="2258568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Add new fields anytime without migration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83879" y="280720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714"/>
                </a:solidFill>
                <a:latin typeface="Calibri"/>
              </a:rPr>
              <a:t>⚡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686800" y="282549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714"/>
                </a:solidFill>
                <a:latin typeface="Calibri"/>
              </a:rPr>
              <a:t>Fast queries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686800" y="3191256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Native JSON — no ORM conversion overhead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183879" y="373989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714"/>
                </a:solidFill>
                <a:latin typeface="Calibri"/>
              </a:rPr>
              <a:t>☁️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86800" y="3758183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714"/>
                </a:solidFill>
                <a:latin typeface="Calibri"/>
              </a:rPr>
              <a:t>Atlas cloud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686800" y="4123944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Free 512MB cluster — deploy anywhere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183879" y="4672583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714"/>
                </a:solidFill>
                <a:latin typeface="Calibri"/>
              </a:rPr>
              <a:t>📊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686800" y="4690871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714"/>
                </a:solidFill>
                <a:latin typeface="Calibri"/>
              </a:rPr>
              <a:t>$aggregate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686800" y="5056631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Sum all downloads/views in single query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183879" y="56052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714"/>
                </a:solidFill>
                <a:latin typeface="Calibri"/>
              </a:rPr>
              <a:t>🔐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686800" y="562355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714"/>
                </a:solidFill>
                <a:latin typeface="Calibri"/>
              </a:rPr>
              <a:t>select: false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686800" y="5989320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deleteToken never leaks in API responses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09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9188"/>
                </a:solidFill>
                <a:latin typeface="Calibri"/>
              </a:rPr>
              <a:t>SlideVault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188"/>
                </a:solidFill>
                <a:latin typeface="Calibri"/>
              </a:rPr>
              <a:t>Key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Georgia"/>
              </a:rPr>
              <a:t>Key Features in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097280" cy="5486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703320" cy="2331720"/>
          </a:xfrm>
          <a:prstGeom prst="rect">
            <a:avLst/>
          </a:prstGeom>
          <a:solidFill>
            <a:srgbClr val="221F1C"/>
          </a:solidFill>
          <a:ln w="9525">
            <a:solidFill>
              <a:srgbClr val="353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3703320" cy="5486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1536192"/>
            <a:ext cx="658368" cy="658368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536192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609344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Browse &amp;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331720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→ Live search by title, author, tag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660903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→ Filter by 8 subject categories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990087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→ Sort: Recent / Downloads / Views / Liked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319272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→ Trending bar auto-ranks by downloads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371600"/>
            <a:ext cx="3703320" cy="2331720"/>
          </a:xfrm>
          <a:prstGeom prst="rect">
            <a:avLst/>
          </a:prstGeom>
          <a:solidFill>
            <a:srgbClr val="221F1C"/>
          </a:solidFill>
          <a:ln w="9525">
            <a:solidFill>
              <a:srgbClr val="353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371600"/>
            <a:ext cx="3703320" cy="54864"/>
          </a:xfrm>
          <a:prstGeom prst="rect">
            <a:avLst/>
          </a:prstGeom>
          <a:solidFill>
            <a:srgbClr val="2F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62272" y="1536192"/>
            <a:ext cx="658368" cy="658368"/>
          </a:xfrm>
          <a:prstGeom prst="rect">
            <a:avLst/>
          </a:prstGeom>
          <a:solidFill>
            <a:srgbClr val="2F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2272" y="1536192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1609344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Slide Preview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2331720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→ Preview slides without downloading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2660903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→ Navigation arrows + keyboard ← 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2990087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→ Dot indicators — click to jump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3319272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→ View count tracked per opening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931920"/>
            <a:ext cx="3703320" cy="2331720"/>
          </a:xfrm>
          <a:prstGeom prst="rect">
            <a:avLst/>
          </a:prstGeom>
          <a:solidFill>
            <a:srgbClr val="221F1C"/>
          </a:solidFill>
          <a:ln w="9525">
            <a:solidFill>
              <a:srgbClr val="353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931920"/>
            <a:ext cx="3703320" cy="54864"/>
          </a:xfrm>
          <a:prstGeom prst="rect">
            <a:avLst/>
          </a:prstGeom>
          <a:solidFill>
            <a:srgbClr val="2D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94192" y="4096511"/>
            <a:ext cx="658368" cy="658368"/>
          </a:xfrm>
          <a:prstGeom prst="rect">
            <a:avLst/>
          </a:prstGeom>
          <a:solidFill>
            <a:srgbClr val="2D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94192" y="4096511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4169663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Upload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4892040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→ Drag &amp; drop or file picker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0768" y="5221224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→ Validates type + size before upload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30768" y="5550407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→ Metadata: title, author, tags, category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0768" y="5879592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→ Secret delete token issued once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931920"/>
            <a:ext cx="3703320" cy="2331720"/>
          </a:xfrm>
          <a:prstGeom prst="rect">
            <a:avLst/>
          </a:prstGeom>
          <a:solidFill>
            <a:srgbClr val="221F1C"/>
          </a:solidFill>
          <a:ln w="9525">
            <a:solidFill>
              <a:srgbClr val="353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931920"/>
            <a:ext cx="3703320" cy="54864"/>
          </a:xfrm>
          <a:prstGeom prst="rect">
            <a:avLst/>
          </a:prstGeom>
          <a:solidFill>
            <a:srgbClr val="C89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30352" y="4096511"/>
            <a:ext cx="658368" cy="658368"/>
          </a:xfrm>
          <a:prstGeom prst="rect">
            <a:avLst/>
          </a:prstGeom>
          <a:solidFill>
            <a:srgbClr val="C89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" y="4096511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25880" y="4169663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User Login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4892040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→ Sign up / Log in with email+password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5221224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→ Passwords hashed with btoa encoding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5550407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→ Session saved in localStorage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5879592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→ Login required to upload slides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7680" y="6492240"/>
            <a:ext cx="3703320" cy="2331720"/>
          </a:xfrm>
          <a:prstGeom prst="rect">
            <a:avLst/>
          </a:prstGeom>
          <a:solidFill>
            <a:srgbClr val="221F1C"/>
          </a:solidFill>
          <a:ln w="9525">
            <a:solidFill>
              <a:srgbClr val="353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97680" y="6492240"/>
            <a:ext cx="37033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62272" y="6656831"/>
            <a:ext cx="658368" cy="6583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62272" y="6656831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57800" y="6729983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Delete Feature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98848" y="7452360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→ 🗑 button visible only to uploader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98848" y="7781544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→ 64-char crypto token required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98848" y="8110728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→ timingSafeEqual prevents timing attack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98848" y="8439912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→ Deletes DB record + disk file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6492240"/>
            <a:ext cx="3703320" cy="2331720"/>
          </a:xfrm>
          <a:prstGeom prst="rect">
            <a:avLst/>
          </a:prstGeom>
          <a:solidFill>
            <a:srgbClr val="221F1C"/>
          </a:solidFill>
          <a:ln w="9525">
            <a:solidFill>
              <a:srgbClr val="353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29600" y="6492240"/>
            <a:ext cx="3703320" cy="54864"/>
          </a:xfrm>
          <a:prstGeom prst="rect">
            <a:avLst/>
          </a:prstGeom>
          <a:solidFill>
            <a:srgbClr val="9A9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394192" y="6656831"/>
            <a:ext cx="658368" cy="658368"/>
          </a:xfrm>
          <a:prstGeom prst="rect">
            <a:avLst/>
          </a:prstGeom>
          <a:solidFill>
            <a:srgbClr val="9A91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94192" y="6656831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89720" y="6729983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Popularity Stats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30768" y="7452360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→ Downloads tracked per presentation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30768" y="7781544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→ Views tracked per modal open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30768" y="8110728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→ Likes stored in MongoDB + localStorage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30768" y="8439912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9188"/>
                </a:solidFill>
                <a:latin typeface="Calibri"/>
              </a:rPr>
              <a:t>→ Aggregated stats shown on hero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09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9188"/>
                </a:solidFill>
                <a:latin typeface="Calibri"/>
              </a:rPr>
              <a:t>SlideVault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188"/>
                </a:solidFill>
                <a:latin typeface="Calibri"/>
              </a:rP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714"/>
                </a:solidFill>
                <a:latin typeface="Georgia"/>
              </a:rPr>
              <a:t>Future Scope &amp; Enhancements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371600" cy="5486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98448"/>
            <a:ext cx="5577840" cy="347472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SHORT TERM  (Next 6 Months)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298448"/>
            <a:ext cx="5577840" cy="347472"/>
          </a:xfrm>
          <a:prstGeom prst="rect">
            <a:avLst/>
          </a:prstGeom>
          <a:solidFill>
            <a:srgbClr val="1A1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3258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LONG TERM  (1–2 Years)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19072"/>
            <a:ext cx="55778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719072"/>
            <a:ext cx="54864" cy="1143000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8288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714"/>
                </a:solidFill>
                <a:latin typeface="Calibri"/>
              </a:rPr>
              <a:t>01  JWT Authentication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249424"/>
            <a:ext cx="5120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9188"/>
                </a:solidFill>
                <a:latin typeface="Calibri"/>
              </a:rPr>
              <a:t>Replace localStorage auth with proper JWT tokens and HTTP-only cookies for real security.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53512"/>
            <a:ext cx="55778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953512"/>
            <a:ext cx="54864" cy="1143000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063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714"/>
                </a:solidFill>
                <a:latin typeface="Calibri"/>
              </a:rPr>
              <a:t>02  Comments &amp; Ratings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483864"/>
            <a:ext cx="5120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9188"/>
                </a:solidFill>
                <a:latin typeface="Calibri"/>
              </a:rPr>
              <a:t>Let users rate presentations (1-5 stars) and leave text comments on each slide deck.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87952"/>
            <a:ext cx="55778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187952"/>
            <a:ext cx="54864" cy="1143000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2976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714"/>
                </a:solidFill>
                <a:latin typeface="Calibri"/>
              </a:rPr>
              <a:t>03  Real File Preview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18304"/>
            <a:ext cx="5120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9188"/>
                </a:solidFill>
                <a:latin typeface="Calibri"/>
              </a:rPr>
              <a:t>Integrate PDF.js or Google Drive API to render actual .pdf and .pptx files in browser.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422392"/>
            <a:ext cx="55778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5422392"/>
            <a:ext cx="54864" cy="1143000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5321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714"/>
                </a:solidFill>
                <a:latin typeface="Calibri"/>
              </a:rPr>
              <a:t>04  Email Verification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952744"/>
            <a:ext cx="5120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9188"/>
                </a:solidFill>
                <a:latin typeface="Calibri"/>
              </a:rPr>
              <a:t>Send verification email on signup using NodeMailer or SendGrid email service API.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1719072"/>
            <a:ext cx="55778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1719072"/>
            <a:ext cx="54864" cy="1143000"/>
          </a:xfrm>
          <a:prstGeom prst="rect">
            <a:avLst/>
          </a:prstGeom>
          <a:solidFill>
            <a:srgbClr val="1A1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18288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714"/>
                </a:solidFill>
                <a:latin typeface="Calibri"/>
              </a:rPr>
              <a:t>01  AI Summarization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2249424"/>
            <a:ext cx="5120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9188"/>
                </a:solidFill>
                <a:latin typeface="Calibri"/>
              </a:rPr>
              <a:t>Use ChatGPT/Gemini API to auto-generate a text summary from uploaded slide content.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2953512"/>
            <a:ext cx="55778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2953512"/>
            <a:ext cx="54864" cy="1143000"/>
          </a:xfrm>
          <a:prstGeom prst="rect">
            <a:avLst/>
          </a:prstGeom>
          <a:solidFill>
            <a:srgbClr val="1A1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3063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714"/>
                </a:solidFill>
                <a:latin typeface="Calibri"/>
              </a:rPr>
              <a:t>02  Mobile App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483864"/>
            <a:ext cx="5120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9188"/>
                </a:solidFill>
                <a:latin typeface="Calibri"/>
              </a:rPr>
              <a:t>Build React Native app for iOS and Android — upload and browse slides on phone.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4187952"/>
            <a:ext cx="55778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72200" y="4187952"/>
            <a:ext cx="54864" cy="1143000"/>
          </a:xfrm>
          <a:prstGeom prst="rect">
            <a:avLst/>
          </a:prstGeom>
          <a:solidFill>
            <a:srgbClr val="1A1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42976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714"/>
                </a:solidFill>
                <a:latin typeface="Calibri"/>
              </a:rPr>
              <a:t>03  Admin 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4718304"/>
            <a:ext cx="5120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9188"/>
                </a:solidFill>
                <a:latin typeface="Calibri"/>
              </a:rPr>
              <a:t>Content moderation panel — flag inappropriate slides, manage users, analytics charts.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5422392"/>
            <a:ext cx="55778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D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72200" y="5422392"/>
            <a:ext cx="54864" cy="1143000"/>
          </a:xfrm>
          <a:prstGeom prst="rect">
            <a:avLst/>
          </a:prstGeom>
          <a:solidFill>
            <a:srgbClr val="1A1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55321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714"/>
                </a:solidFill>
                <a:latin typeface="Calibri"/>
              </a:rPr>
              <a:t>04  Paid Subscriptions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5952744"/>
            <a:ext cx="5120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9188"/>
                </a:solidFill>
                <a:latin typeface="Calibri"/>
              </a:rPr>
              <a:t>Premium tier: unlimited uploads, HD previews, early access — Razorpay integration.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7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1097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A9188"/>
                </a:solidFill>
                <a:latin typeface="Calibri"/>
              </a:rPr>
              <a:t>SlideVault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A9188"/>
                </a:solidFill>
                <a:latin typeface="Calibri"/>
              </a:rPr>
              <a:t>Challenges &amp;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Challenges Faced &amp; What I Learned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645920" cy="54864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623560" cy="1627632"/>
          </a:xfrm>
          <a:prstGeom prst="rect">
            <a:avLst/>
          </a:prstGeom>
          <a:solidFill>
            <a:srgbClr val="221F1C"/>
          </a:solidFill>
          <a:ln w="9525">
            <a:solidFill>
              <a:srgbClr val="353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1371600" cy="347472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49047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File Upload &amp; 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5257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9188"/>
                </a:solidFill>
                <a:latin typeface="Calibri"/>
              </a:rPr>
              <a:t>Configuring Multer for disk storage, file type filtering, and handling errors when DB save fails after file write.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623560" cy="1627632"/>
          </a:xfrm>
          <a:prstGeom prst="rect">
            <a:avLst/>
          </a:prstGeom>
          <a:solidFill>
            <a:srgbClr val="221F1C"/>
          </a:solidFill>
          <a:ln w="9525">
            <a:solidFill>
              <a:srgbClr val="353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1371600" cy="347472"/>
          </a:xfrm>
          <a:prstGeom prst="rect">
            <a:avLst/>
          </a:prstGeom>
          <a:solidFill>
            <a:srgbClr val="2D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630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49047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Solved with Try-Catch Cleanup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011680"/>
            <a:ext cx="5257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9188"/>
                </a:solidFill>
                <a:latin typeface="Calibri"/>
              </a:rPr>
              <a:t>If Mongoose save() fails, delete the already-uploaded file using fs.unlinkSync() to keep disk clean.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00400"/>
            <a:ext cx="5623560" cy="1627632"/>
          </a:xfrm>
          <a:prstGeom prst="rect">
            <a:avLst/>
          </a:prstGeom>
          <a:solidFill>
            <a:srgbClr val="221F1C"/>
          </a:solidFill>
          <a:ln w="9525">
            <a:solidFill>
              <a:srgbClr val="353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200400"/>
            <a:ext cx="1371600" cy="347472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246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327355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Delete Authorization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794760"/>
            <a:ext cx="5257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9188"/>
                </a:solidFill>
                <a:latin typeface="Calibri"/>
              </a:rPr>
              <a:t>Without user accounts, how to ensure only the uploader can delete their own presentation — no fake requests.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200400"/>
            <a:ext cx="5623560" cy="1627632"/>
          </a:xfrm>
          <a:prstGeom prst="rect">
            <a:avLst/>
          </a:prstGeom>
          <a:solidFill>
            <a:srgbClr val="221F1C"/>
          </a:solidFill>
          <a:ln w="9525">
            <a:solidFill>
              <a:srgbClr val="353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200400"/>
            <a:ext cx="1371600" cy="347472"/>
          </a:xfrm>
          <a:prstGeom prst="rect">
            <a:avLst/>
          </a:prstGeom>
          <a:solidFill>
            <a:srgbClr val="2D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246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LEARNING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27355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Crypto Token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794760"/>
            <a:ext cx="5257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9188"/>
                </a:solidFill>
                <a:latin typeface="Calibri"/>
              </a:rPr>
              <a:t>Generated 64-char hex token at upload, stored in DB with select:false. timingSafeEqual prevents timing attacks.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983480"/>
            <a:ext cx="5623560" cy="1627632"/>
          </a:xfrm>
          <a:prstGeom prst="rect">
            <a:avLst/>
          </a:prstGeom>
          <a:solidFill>
            <a:srgbClr val="221F1C"/>
          </a:solidFill>
          <a:ln w="9525">
            <a:solidFill>
              <a:srgbClr val="353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4983480"/>
            <a:ext cx="1371600" cy="347472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0292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CHALLENGE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505663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MongoDB $aggregate Queries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577840"/>
            <a:ext cx="5257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9188"/>
                </a:solidFill>
                <a:latin typeface="Calibri"/>
              </a:rPr>
              <a:t>Summing downloads and views across all documents was new — required learning the aggregation pipeline.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4983480"/>
            <a:ext cx="5623560" cy="1627632"/>
          </a:xfrm>
          <a:prstGeom prst="rect">
            <a:avLst/>
          </a:prstGeom>
          <a:solidFill>
            <a:srgbClr val="221F1C"/>
          </a:solidFill>
          <a:ln w="9525">
            <a:solidFill>
              <a:srgbClr val="353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4983480"/>
            <a:ext cx="1371600" cy="347472"/>
          </a:xfrm>
          <a:prstGeom prst="rect">
            <a:avLst/>
          </a:prstGeom>
          <a:solidFill>
            <a:srgbClr val="2DA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50292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LEARNING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505663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Promise.all for Parallel Queries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577840"/>
            <a:ext cx="5257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A9188"/>
                </a:solidFill>
                <a:latin typeface="Calibri"/>
              </a:rPr>
              <a:t>Run 3 MongoDB queries simultaneously with Promise.all([countDocs, sumDownloads, sumViews]) for speed.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7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097512" y="0"/>
            <a:ext cx="91440" cy="6858000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84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" y="91440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2416" y="91440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27632" y="91440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12848" y="91440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798064" y="91440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83280" y="91440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968496" y="91440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53712" y="91440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138928" y="91440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724144" y="91440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09360" y="91440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94576" y="91440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79792" y="91440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065008" y="91440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50224" y="91440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35440" y="91440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820656" y="91440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405872" y="91440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991088" y="91440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576304" y="91440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7200" y="173736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42416" y="173736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627632" y="173736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12848" y="173736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98064" y="173736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83280" y="173736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968496" y="173736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553712" y="173736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138928" y="173736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724144" y="173736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309360" y="173736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894576" y="173736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479792" y="173736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065008" y="173736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650224" y="173736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235440" y="173736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820656" y="173736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405872" y="173736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991088" y="173736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576304" y="173736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57200" y="256032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42416" y="256032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627632" y="256032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212848" y="256032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798064" y="256032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383280" y="256032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968496" y="256032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553712" y="256032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138928" y="256032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724144" y="256032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309360" y="256032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894576" y="256032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479792" y="256032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065008" y="256032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650224" y="256032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235440" y="256032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9820656" y="256032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405872" y="256032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991088" y="256032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1576304" y="256032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57200" y="338328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42416" y="338328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627632" y="338328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2212848" y="338328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2798064" y="338328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383280" y="338328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968496" y="338328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553712" y="338328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138928" y="338328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724144" y="338328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309360" y="338328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894576" y="338328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7479792" y="338328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065008" y="338328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650224" y="338328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235440" y="338328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820656" y="338328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405872" y="338328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991088" y="338328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1576304" y="338328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457200" y="420624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042416" y="420624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627632" y="420624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2212848" y="420624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2798064" y="420624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3383280" y="420624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968496" y="420624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553712" y="420624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5138928" y="420624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724144" y="420624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309360" y="420624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6894576" y="420624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479792" y="420624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8065008" y="420624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8650224" y="420624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9235440" y="420624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9820656" y="420624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0405872" y="420624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0991088" y="420624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1576304" y="420624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57200" y="502920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042416" y="502920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627632" y="502920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2212848" y="502920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798064" y="502920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383280" y="502920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968496" y="502920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553712" y="502920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138928" y="502920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724144" y="502920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309360" y="502920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6894576" y="502920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7479792" y="502920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065008" y="502920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8650224" y="502920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9235440" y="502920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9820656" y="502920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0405872" y="502920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0991088" y="502920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1576304" y="5029200"/>
            <a:ext cx="38100" cy="38100"/>
          </a:xfrm>
          <a:prstGeom prst="ellipse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371600" y="1463040"/>
            <a:ext cx="9418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1" i="0">
                <a:solidFill>
                  <a:srgbClr val="FFFFFF"/>
                </a:solidFill>
                <a:latin typeface="Georgia"/>
              </a:rPr>
              <a:t>Thank You!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371600" y="283464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C84B2F"/>
                </a:solidFill>
                <a:latin typeface="Georgia"/>
              </a:rPr>
              <a:t>SlideVault — Upload. Discover. Present.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743200" y="3611880"/>
            <a:ext cx="6675120" cy="45720"/>
          </a:xfrm>
          <a:prstGeom prst="rect">
            <a:avLst/>
          </a:prstGeom>
          <a:solidFill>
            <a:srgbClr val="353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371600" y="384048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A9188"/>
                </a:solidFill>
                <a:latin typeface="Calibri"/>
              </a:rPr>
              <a:t>Project Summary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371600" y="4279392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A5550"/>
                </a:solidFill>
                <a:latin typeface="Calibri"/>
              </a:rPr>
              <a:t>Full-Stack Web App  ·  HTML + CSS + JS  ·  Node.js + Express  ·  MongoDB  ·  REST API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926080" y="4864608"/>
            <a:ext cx="6309360" cy="27432"/>
          </a:xfrm>
          <a:prstGeom prst="rect">
            <a:avLst/>
          </a:prstGeom>
          <a:solidFill>
            <a:srgbClr val="3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371600" y="50292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9A9188"/>
                </a:solidFill>
                <a:latin typeface="Calibri"/>
              </a:rPr>
              <a:t>Questions? Let's discuss!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9A9188"/>
                </a:solidFill>
                <a:latin typeface="Calibri"/>
              </a:rPr>
              <a:t>Aryan  ·  B.Tech CSE 2nd Year  ·  [Your College]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371600" y="594360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4B2F"/>
                </a:solidFill>
                <a:latin typeface="Consolas"/>
              </a:rPr>
              <a:t>github.com/YOURNAME/slidevault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