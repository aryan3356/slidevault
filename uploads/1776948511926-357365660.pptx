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4012" r:id="rId2"/>
    <p:sldId id="4013" r:id="rId3"/>
    <p:sldId id="4014" r:id="rId4"/>
    <p:sldId id="4074" r:id="rId5"/>
    <p:sldId id="4022" r:id="rId6"/>
    <p:sldId id="4075" r:id="rId7"/>
    <p:sldId id="4077" r:id="rId8"/>
    <p:sldId id="4078" r:id="rId9"/>
    <p:sldId id="4129" r:id="rId10"/>
    <p:sldId id="4130" r:id="rId11"/>
    <p:sldId id="4080" r:id="rId12"/>
    <p:sldId id="4081" r:id="rId13"/>
    <p:sldId id="4082" r:id="rId14"/>
    <p:sldId id="4131" r:id="rId15"/>
    <p:sldId id="4084" r:id="rId16"/>
    <p:sldId id="4085" r:id="rId17"/>
    <p:sldId id="4132" r:id="rId18"/>
    <p:sldId id="4086" r:id="rId19"/>
    <p:sldId id="4087" r:id="rId20"/>
    <p:sldId id="4088" r:id="rId21"/>
    <p:sldId id="4089" r:id="rId22"/>
    <p:sldId id="4090" r:id="rId23"/>
    <p:sldId id="4091" r:id="rId24"/>
    <p:sldId id="4092" r:id="rId25"/>
    <p:sldId id="4093" r:id="rId26"/>
    <p:sldId id="4094" r:id="rId27"/>
    <p:sldId id="4095" r:id="rId28"/>
    <p:sldId id="4096" r:id="rId29"/>
    <p:sldId id="409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075" autoAdjust="0"/>
    <p:restoredTop sz="94660"/>
  </p:normalViewPr>
  <p:slideViewPr>
    <p:cSldViewPr snapToGrid="0">
      <p:cViewPr varScale="1">
        <p:scale>
          <a:sx n="62" d="100"/>
          <a:sy n="62" d="100"/>
        </p:scale>
        <p:origin x="-868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9468A-9892-4D21-BC6A-859AA3451EBF}" type="datetimeFigureOut">
              <a:rPr lang="id-ID" smtClean="0"/>
              <a:pPr/>
              <a:t>16/02/2026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1B4D9-93DE-4908-8A65-321CD887046A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11</a:t>
            </a:fld>
            <a:endParaRPr lang="id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12</a:t>
            </a:fld>
            <a:endParaRPr lang="id-ID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13</a:t>
            </a:fld>
            <a:endParaRPr lang="id-ID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14</a:t>
            </a:fld>
            <a:endParaRPr lang="id-ID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15</a:t>
            </a:fld>
            <a:endParaRPr lang="id-ID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16</a:t>
            </a:fld>
            <a:endParaRPr lang="id-ID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17</a:t>
            </a:fld>
            <a:endParaRPr lang="id-ID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18</a:t>
            </a:fld>
            <a:endParaRPr lang="id-ID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19</a:t>
            </a:fld>
            <a:endParaRPr lang="id-ID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20</a:t>
            </a:fld>
            <a:endParaRPr lang="id-ID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21</a:t>
            </a:fld>
            <a:endParaRPr lang="id-ID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22</a:t>
            </a:fld>
            <a:endParaRPr lang="id-ID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23</a:t>
            </a:fld>
            <a:endParaRPr lang="id-ID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24</a:t>
            </a:fld>
            <a:endParaRPr lang="id-ID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25</a:t>
            </a:fld>
            <a:endParaRPr lang="id-ID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26</a:t>
            </a:fld>
            <a:endParaRPr lang="id-ID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27</a:t>
            </a:fld>
            <a:endParaRPr lang="id-ID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28</a:t>
            </a:fld>
            <a:endParaRPr lang="id-ID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B4D9-93DE-4908-8A65-321CD887046A}" type="slidenum">
              <a:rPr lang="id-ID" smtClean="0"/>
              <a:pPr/>
              <a:t>29</a:t>
            </a:fld>
            <a:endParaRPr lang="id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39EC9-C142-46A2-9EE7-6BAF7D5DF338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816007B5-870C-4B88-9096-1F3BFF314FCC}"/>
              </a:ext>
            </a:extLst>
          </p:cNvPr>
          <p:cNvSpPr txBox="1">
            <a:spLocks noChangeArrowheads="1"/>
          </p:cNvSpPr>
          <p:nvPr/>
        </p:nvSpPr>
        <p:spPr>
          <a:xfrm>
            <a:off x="1316957" y="1229711"/>
            <a:ext cx="9558085" cy="664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: 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GENERATIVE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AI &amp; ETHICS</a:t>
            </a:r>
            <a:endParaRPr lang="en-US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genAI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934" y="2434977"/>
            <a:ext cx="5214385" cy="407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03EE58-D57F-4FC3-8682-9DA3B1328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What is Generative AI?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6733B0-DEF7-4670-B4D5-9D0817BE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792146" cy="311282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Generative Artificial Intelligence (Generative AI)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refers to a class of AI systems that are capable of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creating new data instances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that resemble a given training dataset.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Unlike traditional AI models that focus only on prediction or classification, generative AI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learns the underlying data distribution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and uses it to generate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novel but realistic outputs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05476" name="AutoShape 4" descr="Understanding Generative AI: Empowering ..."/>
          <p:cNvSpPr>
            <a:spLocks noChangeAspect="1" noChangeArrowheads="1"/>
          </p:cNvSpPr>
          <p:nvPr/>
        </p:nvSpPr>
        <p:spPr bwMode="auto">
          <a:xfrm>
            <a:off x="155575" y="-693738"/>
            <a:ext cx="3124200" cy="14573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05478" name="AutoShape 6" descr="Understanding Generative AI: Empowering ..."/>
          <p:cNvSpPr>
            <a:spLocks noChangeAspect="1" noChangeArrowheads="1"/>
          </p:cNvSpPr>
          <p:nvPr/>
        </p:nvSpPr>
        <p:spPr bwMode="auto">
          <a:xfrm>
            <a:off x="155575" y="-693738"/>
            <a:ext cx="3124200" cy="14573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10547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3208" y="4439078"/>
            <a:ext cx="682942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59951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Key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967" y="173178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Learns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patterns and structure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of data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Produces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new content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rather than selecting from existing data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Outputs may include:</a:t>
            </a:r>
          </a:p>
          <a:p>
            <a:pPr lvl="1"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Text (stories, code, reports)</a:t>
            </a:r>
          </a:p>
          <a:p>
            <a:pPr lvl="1"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Images (art, medical images)</a:t>
            </a:r>
          </a:p>
          <a:p>
            <a:pPr lvl="1"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Audio (speech, music)</a:t>
            </a:r>
          </a:p>
          <a:p>
            <a:pPr lvl="1"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Video and 3D content</a:t>
            </a:r>
          </a:p>
          <a:p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pSp>
        <p:nvGrpSpPr>
          <p:cNvPr id="9" name="Group 8"/>
          <p:cNvGrpSpPr/>
          <p:nvPr/>
        </p:nvGrpSpPr>
        <p:grpSpPr>
          <a:xfrm>
            <a:off x="7561780" y="3524036"/>
            <a:ext cx="4161033" cy="2547992"/>
            <a:chOff x="7561780" y="3524036"/>
            <a:chExt cx="4161033" cy="2547992"/>
          </a:xfrm>
        </p:grpSpPr>
        <p:sp>
          <p:nvSpPr>
            <p:cNvPr id="5" name="Rounded Rectangle 4"/>
            <p:cNvSpPr/>
            <p:nvPr/>
          </p:nvSpPr>
          <p:spPr>
            <a:xfrm>
              <a:off x="7561780" y="3524036"/>
              <a:ext cx="4161033" cy="10376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 smtClean="0"/>
                <a:t>Patterns and Structures</a:t>
              </a:r>
              <a:endParaRPr lang="id-ID" sz="2400" b="1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633699" y="5034338"/>
              <a:ext cx="4078840" cy="10376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 smtClean="0"/>
                <a:t>New Conent </a:t>
              </a:r>
              <a:endParaRPr lang="id-ID" sz="2400" b="1" dirty="0"/>
            </a:p>
          </p:txBody>
        </p:sp>
        <p:cxnSp>
          <p:nvCxnSpPr>
            <p:cNvPr id="8" name="Straight Arrow Connector 7"/>
            <p:cNvCxnSpPr>
              <a:stCxn id="5" idx="2"/>
            </p:cNvCxnSpPr>
            <p:nvPr/>
          </p:nvCxnSpPr>
          <p:spPr>
            <a:xfrm rot="16200000" flipH="1">
              <a:off x="9408560" y="4795462"/>
              <a:ext cx="472611" cy="513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ChatGPT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generating human-like text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DALL·E or Stable Diffusion generating images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GANs generating synthetic medical images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Music and speech synthesis systems</a:t>
            </a:r>
          </a:p>
          <a:p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2480" y="1664412"/>
            <a:ext cx="1105499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Discriminative Models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Discriminative models learn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decision boundaries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 between classes by modeling the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conditiona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 probability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P(y∣x)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where: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x = input data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y = class label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id-ID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b="1" dirty="0" smtClean="0">
                <a:latin typeface="Times New Roman" pitchFamily="18" charset="0"/>
                <a:cs typeface="Times New Roman" pitchFamily="18" charset="0"/>
              </a:rPr>
              <a:t>What they do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Focus on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classification or regression</a:t>
            </a:r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Directly map inputs to outputs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Do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not generate new data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3303" y="647272"/>
            <a:ext cx="9904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400" b="1" dirty="0" smtClean="0">
                <a:latin typeface="Times New Roman" pitchFamily="18" charset="0"/>
                <a:cs typeface="Times New Roman" pitchFamily="18" charset="0"/>
              </a:rPr>
              <a:t>Discriminative Models</a:t>
            </a:r>
            <a:endParaRPr lang="id-ID" sz="4400" dirty="0"/>
          </a:p>
        </p:txBody>
      </p:sp>
    </p:spTree>
    <p:extLst>
      <p:ext uri="{BB962C8B-B14F-4D97-AF65-F5344CB8AC3E}">
        <p14:creationId xmlns:p14="http://schemas.microsoft.com/office/powerpoint/2010/main" xmlns="" val="210644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47962" y="1561677"/>
            <a:ext cx="4253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Examples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id-ID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Logistic Regression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Support Vector Machines (SVM)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Decision Trees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Random Forest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Traditional CNN classifiers</a:t>
            </a:r>
            <a:endParaRPr lang="id-ID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74103" y="1561678"/>
            <a:ext cx="372952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d-ID" sz="3600" b="1" dirty="0" smtClean="0">
                <a:latin typeface="Times New Roman" pitchFamily="18" charset="0"/>
                <a:cs typeface="Times New Roman" pitchFamily="18" charset="0"/>
              </a:rPr>
              <a:t>Use Cases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id-ID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Spam detection</a:t>
            </a:r>
          </a:p>
          <a:p>
            <a:pPr>
              <a:lnSpc>
                <a:spcPct val="150000"/>
              </a:lnSpc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Face recognition</a:t>
            </a:r>
          </a:p>
          <a:p>
            <a:pPr>
              <a:lnSpc>
                <a:spcPct val="150000"/>
              </a:lnSpc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Disease classification</a:t>
            </a:r>
          </a:p>
          <a:p>
            <a:pPr>
              <a:lnSpc>
                <a:spcPct val="150000"/>
              </a:lnSpc>
            </a:pP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Sentiment analysis</a:t>
            </a:r>
            <a:endParaRPr lang="id-ID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873303" y="647272"/>
            <a:ext cx="9904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400" b="1" dirty="0" smtClean="0">
                <a:latin typeface="Times New Roman" pitchFamily="18" charset="0"/>
                <a:cs typeface="Times New Roman" pitchFamily="18" charset="0"/>
              </a:rPr>
              <a:t>Discriminative Models</a:t>
            </a:r>
            <a:endParaRPr lang="id-ID" sz="4400" dirty="0"/>
          </a:p>
        </p:txBody>
      </p:sp>
    </p:spTree>
    <p:extLst>
      <p:ext uri="{BB962C8B-B14F-4D97-AF65-F5344CB8AC3E}">
        <p14:creationId xmlns:p14="http://schemas.microsoft.com/office/powerpoint/2010/main" xmlns="" val="210644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27416" y="1664412"/>
            <a:ext cx="1079813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Generative models learn the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joint probability distribution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P(x,y)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P(x)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This allows them to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generate new samples</a:t>
            </a: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What they do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id-ID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Learn how data is generated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create new data points</a:t>
            </a:r>
            <a:endParaRPr lang="id-ID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Can also be used for classification</a:t>
            </a:r>
          </a:p>
          <a:p>
            <a:pPr>
              <a:lnSpc>
                <a:spcPct val="150000"/>
              </a:lnSpc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2207" y="832207"/>
            <a:ext cx="1097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400" b="1" dirty="0" smtClean="0">
                <a:latin typeface="Times New Roman" pitchFamily="18" charset="0"/>
                <a:cs typeface="Times New Roman" pitchFamily="18" charset="0"/>
              </a:rPr>
              <a:t>Generative Models</a:t>
            </a:r>
            <a:endParaRPr lang="id-ID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0644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0563" y="1664412"/>
            <a:ext cx="512680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Examples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id-ID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Naïve Bayes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Hidden Markov Models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Variational Autoencoders (VAE)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GANs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Diffusion Models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Large Language Models (LLMs)</a:t>
            </a:r>
          </a:p>
          <a:p>
            <a:pPr>
              <a:lnSpc>
                <a:spcPct val="150000"/>
              </a:lnSpc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2207" y="832207"/>
            <a:ext cx="1097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400" b="1" dirty="0" smtClean="0">
                <a:latin typeface="Times New Roman" pitchFamily="18" charset="0"/>
                <a:cs typeface="Times New Roman" pitchFamily="18" charset="0"/>
              </a:rPr>
              <a:t>Generative Models</a:t>
            </a:r>
            <a:endParaRPr lang="id-ID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20316" y="1687487"/>
            <a:ext cx="38545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Use Cases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id-ID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Data synthesis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Image generation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Text generation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Data augmentation</a:t>
            </a:r>
          </a:p>
          <a:p>
            <a:pPr>
              <a:lnSpc>
                <a:spcPct val="150000"/>
              </a:lnSpc>
            </a:pPr>
            <a:r>
              <a:rPr lang="id-ID" sz="2400" dirty="0" smtClean="0">
                <a:latin typeface="Times New Roman" pitchFamily="18" charset="0"/>
                <a:cs typeface="Times New Roman" pitchFamily="18" charset="0"/>
              </a:rPr>
              <a:t>Simulation and creativity</a:t>
            </a:r>
          </a:p>
          <a:p>
            <a:pPr>
              <a:lnSpc>
                <a:spcPct val="150000"/>
              </a:lnSpc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0644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32207" y="832207"/>
            <a:ext cx="1097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400" b="1" dirty="0" smtClean="0">
                <a:latin typeface="Times New Roman" pitchFamily="18" charset="0"/>
                <a:cs typeface="Times New Roman" pitchFamily="18" charset="0"/>
              </a:rPr>
              <a:t>Generative vs Discriminative Models</a:t>
            </a:r>
            <a:endParaRPr lang="id-ID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1858" name="AutoShape 2" descr="Comparison of Discriminative Models (The Analyst) and Generative Models (The Creator) using diagrams and key attributes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21860" name="AutoShape 4" descr="Comparison of Discriminative Models (The Analyst) and Generative Models (The Creator) using diagrams and key attributes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12186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7232" y="1664413"/>
            <a:ext cx="8977474" cy="4983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10644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0157" y="2011679"/>
          <a:ext cx="9780998" cy="3906233"/>
        </p:xfrm>
        <a:graphic>
          <a:graphicData uri="http://schemas.openxmlformats.org/drawingml/2006/table">
            <a:tbl>
              <a:tblPr/>
              <a:tblGrid>
                <a:gridCol w="3222661"/>
                <a:gridCol w="3222661"/>
                <a:gridCol w="3335676"/>
              </a:tblGrid>
              <a:tr h="504030">
                <a:tc>
                  <a:txBody>
                    <a:bodyPr/>
                    <a:lstStyle/>
                    <a:p>
                      <a:r>
                        <a:rPr lang="id-ID" sz="2000" b="1" dirty="0"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2000" b="1" dirty="0">
                          <a:latin typeface="Times New Roman" pitchFamily="18" charset="0"/>
                          <a:cs typeface="Times New Roman" pitchFamily="18" charset="0"/>
                        </a:rPr>
                        <a:t>Discriminative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2000" b="1" dirty="0">
                          <a:latin typeface="Times New Roman" pitchFamily="18" charset="0"/>
                          <a:cs typeface="Times New Roman" pitchFamily="18" charset="0"/>
                        </a:rPr>
                        <a:t>Generative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4030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Probability Modeled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P(y∣x)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id-ID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P(x,y)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id-ID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or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id-ID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P(x)</a:t>
                      </a:r>
                      <a:endParaRPr lang="id-ID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4030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Main 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Classify or predict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Generate new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4030"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Labels /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Text, images, 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4030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Data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id-ID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4030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2053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SVM, CNN, 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GANs, VAEs, LLMs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207" y="832207"/>
            <a:ext cx="1097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400" b="1" dirty="0" smtClean="0">
                <a:latin typeface="Times New Roman" pitchFamily="18" charset="0"/>
                <a:cs typeface="Times New Roman" pitchFamily="18" charset="0"/>
              </a:rPr>
              <a:t>Generative vs Discriminative Models</a:t>
            </a:r>
            <a:endParaRPr lang="id-ID" sz="4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0644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Core Architectures of Generative AI</a:t>
            </a:r>
          </a:p>
        </p:txBody>
      </p:sp>
      <p:pic>
        <p:nvPicPr>
          <p:cNvPr id="9728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5878" y="1541179"/>
            <a:ext cx="100298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Neural networks trained on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massive text corpora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Predict the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next token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in a sequence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Based on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Transformer architecture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GPT series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BERT (masked generation)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LLaMA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PaLM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502" y="1690688"/>
            <a:ext cx="6590989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Transformer Architecture (High-Level):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Core components: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Tokenization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Embeddings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Self-Attention Mechanism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Multi-Head Attention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Feed-Forward Networks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Large Language Models (LLMs)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6298" y="1714570"/>
            <a:ext cx="10105954" cy="4471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Strengths &amp; Limitations of LLMs</a:t>
            </a:r>
          </a:p>
          <a:p>
            <a:pPr>
              <a:buNone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Strengths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Human-like text generation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Context awareness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Multi-task learning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Limitations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Hallucinations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Bias propagation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Lack of true understanding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High computational cost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Generative Adversarial Networks (GANs)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Introduced by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Ian </a:t>
            </a:r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Goodfellow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(2014)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Two competing networks: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Generator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– creates fake data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Discriminator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– distinguishes real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fake</a:t>
            </a:r>
          </a:p>
          <a:p>
            <a:pPr>
              <a:buNone/>
            </a:pPr>
            <a:endParaRPr lang="en-IN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Example: A game-theoretic approach (</a:t>
            </a:r>
            <a:r>
              <a:rPr lang="en-IN" i="1" dirty="0" err="1" smtClean="0">
                <a:latin typeface="Times New Roman" pitchFamily="18" charset="0"/>
                <a:cs typeface="Times New Roman" pitchFamily="18" charset="0"/>
              </a:rPr>
              <a:t>minimax</a:t>
            </a: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 game).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Generative Adversarial Networks (GANs)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51398" y="1627652"/>
            <a:ext cx="8979613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Generative Adversarial Networks (GANs)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GAN Training Process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Generator produces fake samples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Discriminator evaluates real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fake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Generator improves to fool discriminator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Discriminator improves to detect fakes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Generator’s Output: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Generator produces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highly realistic samples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Generative Adversarial Networks (GANs)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Applications of GANs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Image synthesis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Medical imaging augmentation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Super-resolution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Deepfakes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Style transfer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id-ID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Diffusion Models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Inspired by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thermodynamics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Gradually add noise to data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Learn to reverse the noise process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Popular in: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Image generation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Medical imaging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Art creation</a:t>
            </a:r>
          </a:p>
          <a:p>
            <a:pPr>
              <a:buNone/>
            </a:pPr>
            <a:endParaRPr lang="id-ID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Diffusion Models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How Diffusion Models Work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Two Phases: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Forward diffusion (adding noise)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Reverse diffusion (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denoising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Model learns to: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Remove noise step by step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Recover realistic data</a:t>
            </a:r>
          </a:p>
          <a:p>
            <a:pPr>
              <a:buNone/>
            </a:pPr>
            <a:endParaRPr lang="id-ID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Diffusion vs GANs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91802" y="1880169"/>
          <a:ext cx="8907696" cy="4089115"/>
        </p:xfrm>
        <a:graphic>
          <a:graphicData uri="http://schemas.openxmlformats.org/drawingml/2006/table">
            <a:tbl>
              <a:tblPr/>
              <a:tblGrid>
                <a:gridCol w="2969232"/>
                <a:gridCol w="2969232"/>
                <a:gridCol w="2969232"/>
              </a:tblGrid>
              <a:tr h="817823">
                <a:tc>
                  <a:txBody>
                    <a:bodyPr/>
                    <a:lstStyle/>
                    <a:p>
                      <a:r>
                        <a:rPr lang="id-ID" sz="2400" b="1" dirty="0">
                          <a:latin typeface="Times New Roman" pitchFamily="18" charset="0"/>
                          <a:cs typeface="Times New Roman" pitchFamily="18" charset="0"/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>
                          <a:latin typeface="Times New Roman" pitchFamily="18" charset="0"/>
                          <a:cs typeface="Times New Roman" pitchFamily="18" charset="0"/>
                        </a:rPr>
                        <a:t>GANs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sz="2400" b="1" dirty="0">
                          <a:latin typeface="Times New Roman" pitchFamily="18" charset="0"/>
                          <a:cs typeface="Times New Roman" pitchFamily="18" charset="0"/>
                        </a:rPr>
                        <a:t>Diffusion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17823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Unstable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Stable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17823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Output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17823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17823"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>
                          <a:latin typeface="Times New Roman" pitchFamily="18" charset="0"/>
                          <a:cs typeface="Times New Roman" pitchFamily="18" charset="0"/>
                        </a:rPr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d-ID" dirty="0">
                          <a:latin typeface="Times New Roman" pitchFamily="18" charset="0"/>
                          <a:cs typeface="Times New Roman" pitchFamily="18" charset="0"/>
                        </a:rPr>
                        <a:t>Strong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Ethics of Generative AI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Why Ethics Matters in Generative AI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Scale of impact is massive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Outputs influence opinions and decisions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Automation of misinformation</a:t>
            </a:r>
          </a:p>
          <a:p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Key Ethical Challenges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Bias &amp; discrimination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Misinformation &amp;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deepfakes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Privacy violations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Intellectual property issues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Lack of accountability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Ethics of Generative AI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Bias in Generative AI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Gender bias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Racial bias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Cultural bias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id-ID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Root causes:</a:t>
            </a:r>
            <a:endParaRPr lang="id-ID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Skewed training data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Historical inequalities</a:t>
            </a:r>
            <a:endParaRPr lang="id-ID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Ethics of Generative AI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Privacy &amp; Data Security: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Training on scraped data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Risk of memorization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Leakage of personal information</a:t>
            </a:r>
          </a:p>
          <a:p>
            <a:pPr>
              <a:buNone/>
            </a:pPr>
            <a:endParaRPr lang="en-IN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Compliance with GDPR, HIPAA, etc., is critical.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id-ID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Ethics of Generative AI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Deepfakes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&amp; Misuse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Fake videos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Political manipulation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Identity fraud</a:t>
            </a:r>
          </a:p>
          <a:p>
            <a:pPr>
              <a:buNone/>
            </a:pPr>
            <a:endParaRPr lang="en-IN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High social and legal risk.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id-ID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Responsible Use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Principles of Responsible AI: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Fairness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Transparency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Accountability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Privacy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Safety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Human oversight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Responsible Use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b="1" dirty="0" smtClean="0">
                <a:latin typeface="Times New Roman" pitchFamily="18" charset="0"/>
                <a:cs typeface="Times New Roman" pitchFamily="18" charset="0"/>
              </a:rPr>
              <a:t>Ethical AI Frameworks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id-ID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OECD AI Principles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UNESCO AI Ethics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EU AI Act</a:t>
            </a:r>
          </a:p>
          <a:p>
            <a:r>
              <a:rPr lang="id-ID" dirty="0" smtClean="0">
                <a:latin typeface="Times New Roman" pitchFamily="18" charset="0"/>
                <a:cs typeface="Times New Roman" pitchFamily="18" charset="0"/>
              </a:rPr>
              <a:t>Company-level AI governance</a:t>
            </a:r>
            <a:endParaRPr lang="id-ID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Responsible Use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45" y="1690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Mitigation Strategies: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Bias auditing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Human-in-the-loop systems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Content moderation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Watermarking AI-generated content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Explainable AI (XAI)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03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18299</TotalTime>
  <Words>831</Words>
  <Application>Microsoft Office PowerPoint</Application>
  <PresentationFormat>Custom</PresentationFormat>
  <Paragraphs>256</Paragraphs>
  <Slides>29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1_Office Theme</vt:lpstr>
      <vt:lpstr>Slide 1</vt:lpstr>
      <vt:lpstr>What is Generative AI?</vt:lpstr>
      <vt:lpstr>Key Characteristics</vt:lpstr>
      <vt:lpstr>Examples</vt:lpstr>
      <vt:lpstr>Slide 5</vt:lpstr>
      <vt:lpstr>Slide 6</vt:lpstr>
      <vt:lpstr>Slide 7</vt:lpstr>
      <vt:lpstr>Slide 8</vt:lpstr>
      <vt:lpstr>Slide 9</vt:lpstr>
      <vt:lpstr>Slide 10</vt:lpstr>
      <vt:lpstr>Core Architectures of Generative AI</vt:lpstr>
      <vt:lpstr>Large Language Models (LLMs)</vt:lpstr>
      <vt:lpstr>Large Language Models (LLMs)</vt:lpstr>
      <vt:lpstr>Large Language Models (LLMs)</vt:lpstr>
      <vt:lpstr>Large Language Models (LLMs)</vt:lpstr>
      <vt:lpstr>Generative Adversarial Networks (GANs)</vt:lpstr>
      <vt:lpstr>Generative Adversarial Networks (GANs)</vt:lpstr>
      <vt:lpstr>Generative Adversarial Networks (GANs)</vt:lpstr>
      <vt:lpstr>Generative Adversarial Networks (GANs)</vt:lpstr>
      <vt:lpstr>Diffusion Models</vt:lpstr>
      <vt:lpstr>Diffusion Models</vt:lpstr>
      <vt:lpstr>Diffusion vs GANs</vt:lpstr>
      <vt:lpstr>Ethics of Generative AI</vt:lpstr>
      <vt:lpstr>Ethics of Generative AI</vt:lpstr>
      <vt:lpstr>Ethics of Generative AI</vt:lpstr>
      <vt:lpstr>Ethics of Generative AI</vt:lpstr>
      <vt:lpstr>Responsible Use of Generative AI</vt:lpstr>
      <vt:lpstr>Responsible Use of Generative AI</vt:lpstr>
      <vt:lpstr>Responsible Use of Generative AI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acer1</cp:lastModifiedBy>
  <cp:revision>187</cp:revision>
  <dcterms:created xsi:type="dcterms:W3CDTF">2024-12-19T08:47:23Z</dcterms:created>
  <dcterms:modified xsi:type="dcterms:W3CDTF">2026-02-16T06:49:02Z</dcterms:modified>
</cp:coreProperties>
</file>